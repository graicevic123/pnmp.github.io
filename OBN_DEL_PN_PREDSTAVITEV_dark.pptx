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256032"/>
            <a:ext cx="2926080" cy="29260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25603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GASILSKA ZVEZA LJUBLJANA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92608" y="749808"/>
            <a:ext cx="8503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Obnovitvena delavnica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92608" y="1152144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PROMETNA NESREČA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292608" y="2267712"/>
            <a:ext cx="164592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239572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5. 2025  ·  Ljubljana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92608" y="2798064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Mentorji PNMP · GZL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6217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0"/>
            <a:ext cx="8778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Časovnica delavnice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01184"/>
            <a:ext cx="877824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Obnovitvena delavnica – Prometna nesreča · GZL, 12. 5. 2025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01168" y="713232"/>
            <a:ext cx="1170432" cy="49377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713232"/>
            <a:ext cx="1097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ČAS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408176" y="713232"/>
            <a:ext cx="1938528" cy="493776"/>
          </a:xfrm>
          <a:prstGeom prst="rect">
            <a:avLst/>
          </a:prstGeom>
          <a:solidFill>
            <a:srgbClr val="C17D0A"/>
          </a:solidFill>
          <a:ln w="12700">
            <a:solidFill>
              <a:srgbClr val="C17D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713232"/>
            <a:ext cx="18653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MOTORIST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383280" y="713232"/>
            <a:ext cx="1938528" cy="493776"/>
          </a:xfrm>
          <a:prstGeom prst="rect">
            <a:avLst/>
          </a:prstGeom>
          <a:solidFill>
            <a:srgbClr val="1A6A7A"/>
          </a:solidFill>
          <a:ln w="12700">
            <a:solidFill>
              <a:srgbClr val="1A6A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38144" y="713232"/>
            <a:ext cx="18653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IMOBILIZACIJA STOJEČEGA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358384" y="713232"/>
            <a:ext cx="1938528" cy="493776"/>
          </a:xfrm>
          <a:prstGeom prst="rect">
            <a:avLst/>
          </a:prstGeom>
          <a:solidFill>
            <a:srgbClr val="1A7A40"/>
          </a:solidFill>
          <a:ln w="12700">
            <a:solidFill>
              <a:srgbClr val="1A7A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13248" y="713232"/>
            <a:ext cx="18653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IZNOS IZ VOZILA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315200" y="713232"/>
            <a:ext cx="1938528" cy="493776"/>
          </a:xfrm>
          <a:prstGeom prst="rect">
            <a:avLst/>
          </a:prstGeom>
          <a:solidFill>
            <a:srgbClr val="5A3A8A"/>
          </a:solidFill>
          <a:ln w="12700">
            <a:solidFill>
              <a:srgbClr val="5A3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70064" y="713232"/>
            <a:ext cx="18653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HIPOGLIKEMIJA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01168" y="768096"/>
            <a:ext cx="1170432" cy="475488"/>
          </a:xfrm>
          <a:prstGeom prst="rect">
            <a:avLst/>
          </a:prstGeom>
          <a:solidFill>
            <a:srgbClr val="1B3A5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768096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17.30–18.20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408176" y="768096"/>
            <a:ext cx="7534656" cy="475488"/>
          </a:xfrm>
          <a:prstGeom prst="rect">
            <a:avLst/>
          </a:prstGeom>
          <a:solidFill>
            <a:srgbClr val="152535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99616" y="768096"/>
            <a:ext cx="74432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SCENARIJ PRESENEČENJA (17.30–18.05)  +  KRATKA TEORIJA (18.05–18.20)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01168" y="1298448"/>
            <a:ext cx="1170432" cy="475488"/>
          </a:xfrm>
          <a:prstGeom prst="rect">
            <a:avLst/>
          </a:prstGeom>
          <a:solidFill>
            <a:srgbClr val="1B3A5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1298448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18.25–19.00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408176" y="1298448"/>
            <a:ext cx="1938528" cy="475488"/>
          </a:xfrm>
          <a:prstGeom prst="rect">
            <a:avLst/>
          </a:prstGeom>
          <a:solidFill>
            <a:srgbClr val="182030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63040" y="1298448"/>
            <a:ext cx="18653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SKUPINA 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83280" y="1298448"/>
            <a:ext cx="1938528" cy="475488"/>
          </a:xfrm>
          <a:prstGeom prst="rect">
            <a:avLst/>
          </a:prstGeom>
          <a:solidFill>
            <a:srgbClr val="182030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38144" y="1298448"/>
            <a:ext cx="18653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SKUPINA 2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358384" y="1298448"/>
            <a:ext cx="1938528" cy="475488"/>
          </a:xfrm>
          <a:prstGeom prst="rect">
            <a:avLst/>
          </a:prstGeom>
          <a:solidFill>
            <a:srgbClr val="182030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13248" y="1298448"/>
            <a:ext cx="18653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SKUPINA 3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15200" y="1298448"/>
            <a:ext cx="1938528" cy="475488"/>
          </a:xfrm>
          <a:prstGeom prst="rect">
            <a:avLst/>
          </a:prstGeom>
          <a:solidFill>
            <a:srgbClr val="182030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70064" y="1298448"/>
            <a:ext cx="18653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SKUPINA 4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01168" y="1810512"/>
            <a:ext cx="1170432" cy="475488"/>
          </a:xfrm>
          <a:prstGeom prst="rect">
            <a:avLst/>
          </a:prstGeom>
          <a:solidFill>
            <a:srgbClr val="1B3A5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" y="1810512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19.05–19.40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408176" y="1810512"/>
            <a:ext cx="1938528" cy="475488"/>
          </a:xfrm>
          <a:prstGeom prst="rect">
            <a:avLst/>
          </a:prstGeom>
          <a:solidFill>
            <a:srgbClr val="152535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63040" y="1810512"/>
            <a:ext cx="18653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SKUPINA 4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383280" y="1810512"/>
            <a:ext cx="1938528" cy="475488"/>
          </a:xfrm>
          <a:prstGeom prst="rect">
            <a:avLst/>
          </a:prstGeom>
          <a:solidFill>
            <a:srgbClr val="152535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38144" y="1810512"/>
            <a:ext cx="18653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SKUPINA 1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358384" y="1810512"/>
            <a:ext cx="1938528" cy="475488"/>
          </a:xfrm>
          <a:prstGeom prst="rect">
            <a:avLst/>
          </a:prstGeom>
          <a:solidFill>
            <a:srgbClr val="152535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13248" y="1810512"/>
            <a:ext cx="18653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SKUPINA 2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315200" y="1810512"/>
            <a:ext cx="1938528" cy="475488"/>
          </a:xfrm>
          <a:prstGeom prst="rect">
            <a:avLst/>
          </a:prstGeom>
          <a:solidFill>
            <a:srgbClr val="152535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70064" y="1810512"/>
            <a:ext cx="18653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SKUPINA 3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01168" y="2322576"/>
            <a:ext cx="1170432" cy="475488"/>
          </a:xfrm>
          <a:prstGeom prst="rect">
            <a:avLst/>
          </a:prstGeom>
          <a:solidFill>
            <a:srgbClr val="1B3A5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6032" y="2322576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19.45–20.20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1408176" y="2322576"/>
            <a:ext cx="1938528" cy="475488"/>
          </a:xfrm>
          <a:prstGeom prst="rect">
            <a:avLst/>
          </a:prstGeom>
          <a:solidFill>
            <a:srgbClr val="182030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463040" y="2322576"/>
            <a:ext cx="18653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SKUPINA 3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383280" y="2322576"/>
            <a:ext cx="1938528" cy="475488"/>
          </a:xfrm>
          <a:prstGeom prst="rect">
            <a:avLst/>
          </a:prstGeom>
          <a:solidFill>
            <a:srgbClr val="182030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38144" y="2322576"/>
            <a:ext cx="18653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SKUPINA 4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358384" y="2322576"/>
            <a:ext cx="1938528" cy="475488"/>
          </a:xfrm>
          <a:prstGeom prst="rect">
            <a:avLst/>
          </a:prstGeom>
          <a:solidFill>
            <a:srgbClr val="182030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13248" y="2322576"/>
            <a:ext cx="18653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SKUPINA 1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315200" y="2322576"/>
            <a:ext cx="1938528" cy="475488"/>
          </a:xfrm>
          <a:prstGeom prst="rect">
            <a:avLst/>
          </a:prstGeom>
          <a:solidFill>
            <a:srgbClr val="182030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70064" y="2322576"/>
            <a:ext cx="18653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SKUPINA 2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01168" y="2834640"/>
            <a:ext cx="1170432" cy="475488"/>
          </a:xfrm>
          <a:prstGeom prst="rect">
            <a:avLst/>
          </a:prstGeom>
          <a:solidFill>
            <a:srgbClr val="1B3A5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56032" y="2834640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20.25–21.00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1408176" y="2834640"/>
            <a:ext cx="1938528" cy="475488"/>
          </a:xfrm>
          <a:prstGeom prst="rect">
            <a:avLst/>
          </a:prstGeom>
          <a:solidFill>
            <a:srgbClr val="152535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463040" y="2834640"/>
            <a:ext cx="18653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SKUPINA 2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383280" y="2834640"/>
            <a:ext cx="1938528" cy="475488"/>
          </a:xfrm>
          <a:prstGeom prst="rect">
            <a:avLst/>
          </a:prstGeom>
          <a:solidFill>
            <a:srgbClr val="152535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38144" y="2834640"/>
            <a:ext cx="18653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SKUPINA 3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358384" y="2834640"/>
            <a:ext cx="1938528" cy="475488"/>
          </a:xfrm>
          <a:prstGeom prst="rect">
            <a:avLst/>
          </a:prstGeom>
          <a:solidFill>
            <a:srgbClr val="152535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13248" y="2834640"/>
            <a:ext cx="18653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SKUPINA 4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315200" y="2834640"/>
            <a:ext cx="1938528" cy="475488"/>
          </a:xfrm>
          <a:prstGeom prst="rect">
            <a:avLst/>
          </a:prstGeom>
          <a:solidFill>
            <a:srgbClr val="152535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370064" y="2834640"/>
            <a:ext cx="18653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SKUPINA 1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201168" y="3346704"/>
            <a:ext cx="1170432" cy="475488"/>
          </a:xfrm>
          <a:prstGeom prst="rect">
            <a:avLst/>
          </a:prstGeom>
          <a:solidFill>
            <a:srgbClr val="1B3A5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56032" y="3346704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21.00–21.10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1408176" y="3346704"/>
            <a:ext cx="7534656" cy="475488"/>
          </a:xfrm>
          <a:prstGeom prst="rect">
            <a:avLst/>
          </a:prstGeom>
          <a:solidFill>
            <a:srgbClr val="182030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499616" y="3346704"/>
            <a:ext cx="74432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6217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0"/>
            <a:ext cx="8778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Razporeditev po prostorih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01184"/>
            <a:ext cx="877824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Obnovitvena delavnica – Prometna nesreča · GZL, 12. 5. 2025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01168" y="786384"/>
            <a:ext cx="8741664" cy="749808"/>
          </a:xfrm>
          <a:prstGeom prst="rect">
            <a:avLst/>
          </a:prstGeom>
          <a:solidFill>
            <a:srgbClr val="152535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786384"/>
            <a:ext cx="64008" cy="749808"/>
          </a:xfrm>
          <a:prstGeom prst="rect">
            <a:avLst/>
          </a:prstGeom>
          <a:solidFill>
            <a:srgbClr val="C17D0A"/>
          </a:solidFill>
          <a:ln w="12700">
            <a:solidFill>
              <a:srgbClr val="C17D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85953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MOTORIST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15214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Postaja: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463040" y="1115568"/>
            <a:ext cx="2560320" cy="292608"/>
          </a:xfrm>
          <a:prstGeom prst="rect">
            <a:avLst/>
          </a:prstGeom>
          <a:solidFill>
            <a:srgbClr val="C17D0A"/>
          </a:solidFill>
          <a:ln w="12700">
            <a:solidFill>
              <a:srgbClr val="C17D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81328" y="1115568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garaža xy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01168" y="1700784"/>
            <a:ext cx="8741664" cy="749808"/>
          </a:xfrm>
          <a:prstGeom prst="rect">
            <a:avLst/>
          </a:prstGeom>
          <a:solidFill>
            <a:srgbClr val="152535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" y="1700784"/>
            <a:ext cx="64008" cy="749808"/>
          </a:xfrm>
          <a:prstGeom prst="rect">
            <a:avLst/>
          </a:prstGeom>
          <a:solidFill>
            <a:srgbClr val="0F6B5A"/>
          </a:solidFill>
          <a:ln w="12700">
            <a:solidFill>
              <a:srgbClr val="0F6B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77393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IMOBILIZACIJA STOJEČEGA POŠKODOVANCA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206654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Postaja: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463040" y="2029968"/>
            <a:ext cx="2560320" cy="292608"/>
          </a:xfrm>
          <a:prstGeom prst="rect">
            <a:avLst/>
          </a:prstGeom>
          <a:solidFill>
            <a:srgbClr val="0F6B5A"/>
          </a:solidFill>
          <a:ln w="12700">
            <a:solidFill>
              <a:srgbClr val="0F6B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81328" y="2029968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garaža xy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01168" y="2615184"/>
            <a:ext cx="8741664" cy="749808"/>
          </a:xfrm>
          <a:prstGeom prst="rect">
            <a:avLst/>
          </a:prstGeom>
          <a:solidFill>
            <a:srgbClr val="152535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1168" y="2615184"/>
            <a:ext cx="64008" cy="749808"/>
          </a:xfrm>
          <a:prstGeom prst="rect">
            <a:avLst/>
          </a:prstGeom>
          <a:solidFill>
            <a:srgbClr val="1A7A40"/>
          </a:solidFill>
          <a:ln w="12700">
            <a:solidFill>
              <a:srgbClr val="1A7A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68833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IZNOS IZ VOZILA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298094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Postaja: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463040" y="2944368"/>
            <a:ext cx="2560320" cy="292608"/>
          </a:xfrm>
          <a:prstGeom prst="rect">
            <a:avLst/>
          </a:prstGeom>
          <a:solidFill>
            <a:srgbClr val="1A7A40"/>
          </a:solidFill>
          <a:ln w="12700">
            <a:solidFill>
              <a:srgbClr val="1A7A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81328" y="2944368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garaža 5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01168" y="3529584"/>
            <a:ext cx="8741664" cy="749808"/>
          </a:xfrm>
          <a:prstGeom prst="rect">
            <a:avLst/>
          </a:prstGeom>
          <a:solidFill>
            <a:srgbClr val="152535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1168" y="3529584"/>
            <a:ext cx="64008" cy="749808"/>
          </a:xfrm>
          <a:prstGeom prst="rect">
            <a:avLst/>
          </a:prstGeom>
          <a:solidFill>
            <a:srgbClr val="5A3A8A"/>
          </a:solidFill>
          <a:ln w="12700">
            <a:solidFill>
              <a:srgbClr val="5A3A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60273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HIPOGLIKEMIJA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" y="389534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Postaja: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463040" y="3858768"/>
            <a:ext cx="2560320" cy="292608"/>
          </a:xfrm>
          <a:prstGeom prst="rect">
            <a:avLst/>
          </a:prstGeom>
          <a:solidFill>
            <a:srgbClr val="5A3A8A"/>
          </a:solidFill>
          <a:ln w="12700">
            <a:solidFill>
              <a:srgbClr val="5A3A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81328" y="3858768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garaža 12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6217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0"/>
            <a:ext cx="8778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Oprema – razporeditev po skupinah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01184"/>
            <a:ext cx="877824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Obnovitvena delavnica – Prometna nesreča · GZL, 12. 5. 2025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01168" y="786384"/>
            <a:ext cx="4261104" cy="1572768"/>
          </a:xfrm>
          <a:prstGeom prst="rect">
            <a:avLst/>
          </a:prstGeom>
          <a:solidFill>
            <a:srgbClr val="152535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786384"/>
            <a:ext cx="4261104" cy="347472"/>
          </a:xfrm>
          <a:prstGeom prst="rect">
            <a:avLst/>
          </a:prstGeom>
          <a:solidFill>
            <a:srgbClr val="C17D0A"/>
          </a:solidFill>
          <a:ln w="12700">
            <a:solidFill>
              <a:srgbClr val="C17D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" y="786384"/>
            <a:ext cx="42611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SKUPINA 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" y="120700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PGD: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" y="14813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Tomačevo – Jarše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" y="1792224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Oprema: pripravijo člani pred pričetkom vadbe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81728" y="786384"/>
            <a:ext cx="4261104" cy="1572768"/>
          </a:xfrm>
          <a:prstGeom prst="rect">
            <a:avLst/>
          </a:prstGeom>
          <a:solidFill>
            <a:srgbClr val="152535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81728" y="786384"/>
            <a:ext cx="4261104" cy="347472"/>
          </a:xfrm>
          <a:prstGeom prst="rect">
            <a:avLst/>
          </a:prstGeom>
          <a:solidFill>
            <a:srgbClr val="0F6B5A"/>
          </a:solidFill>
          <a:ln w="12700">
            <a:solidFill>
              <a:srgbClr val="0F6B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81728" y="786384"/>
            <a:ext cx="42611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SKUPINA 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28032" y="120700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PGD: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28032" y="14813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Gameljne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28032" y="1792224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Oprema: pripravijo člani pred pričetkom vadbe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01168" y="2615184"/>
            <a:ext cx="4261104" cy="1572768"/>
          </a:xfrm>
          <a:prstGeom prst="rect">
            <a:avLst/>
          </a:prstGeom>
          <a:solidFill>
            <a:srgbClr val="152535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1168" y="2615184"/>
            <a:ext cx="4261104" cy="347472"/>
          </a:xfrm>
          <a:prstGeom prst="rect">
            <a:avLst/>
          </a:prstGeom>
          <a:solidFill>
            <a:srgbClr val="1A7A40"/>
          </a:solidFill>
          <a:ln w="12700">
            <a:solidFill>
              <a:srgbClr val="1A7A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" y="2615184"/>
            <a:ext cx="42611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SKUPINA 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7472" y="303580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PGD: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7472" y="33101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Zalog – Sp. Kašelj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7472" y="3621024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Oprema: pripravijo člani pred pričetkom vadbe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81728" y="2615184"/>
            <a:ext cx="4261104" cy="1572768"/>
          </a:xfrm>
          <a:prstGeom prst="rect">
            <a:avLst/>
          </a:prstGeom>
          <a:solidFill>
            <a:srgbClr val="152535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1728" y="2615184"/>
            <a:ext cx="4261104" cy="347472"/>
          </a:xfrm>
          <a:prstGeom prst="rect">
            <a:avLst/>
          </a:prstGeom>
          <a:solidFill>
            <a:srgbClr val="5A3A8A"/>
          </a:solidFill>
          <a:ln w="12700">
            <a:solidFill>
              <a:srgbClr val="5A3A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1728" y="2615184"/>
            <a:ext cx="42611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SKUPINA 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28032" y="303580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PGD: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28032" y="33101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Kozarje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28032" y="3621024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Oprema: pripravijo člani pred pričetkom vadbe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6217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0"/>
            <a:ext cx="8778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 praktičnega dela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01184"/>
            <a:ext cx="877824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Obnovitvena delavnica – Prometna nesreča · GZL, 12. 5. 2025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01168" y="768096"/>
            <a:ext cx="8741664" cy="804672"/>
          </a:xfrm>
          <a:prstGeom prst="rect">
            <a:avLst/>
          </a:prstGeom>
          <a:solidFill>
            <a:srgbClr val="152535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768096"/>
            <a:ext cx="64008" cy="804672"/>
          </a:xfrm>
          <a:prstGeom prst="rect">
            <a:avLst/>
          </a:prstGeom>
          <a:solidFill>
            <a:srgbClr val="0F6B5A"/>
          </a:solidFill>
          <a:ln w="12700">
            <a:solidFill>
              <a:srgbClr val="0F6B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822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Komentar vodje vsakega delovišča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" y="1133856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Vsak vodja delovišča poda kratek komentar o poteku vadbe, opaženih pomanjkljivostih in pozitivnih točkah.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1168" y="1737360"/>
            <a:ext cx="8741664" cy="804672"/>
          </a:xfrm>
          <a:prstGeom prst="rect">
            <a:avLst/>
          </a:prstGeom>
          <a:solidFill>
            <a:srgbClr val="152535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" y="1737360"/>
            <a:ext cx="64008" cy="804672"/>
          </a:xfrm>
          <a:prstGeom prst="rect">
            <a:avLst/>
          </a:prstGeom>
          <a:solidFill>
            <a:srgbClr val="0F6B5A"/>
          </a:solidFill>
          <a:ln w="12700">
            <a:solidFill>
              <a:srgbClr val="0F6B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79222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Komentar drugih bolničarjev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" y="21031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Odprta izmenjava opažanj med vsemi udeleženci. Poudarek na konstruktivnih predlogih.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01168" y="2706624"/>
            <a:ext cx="8741664" cy="804672"/>
          </a:xfrm>
          <a:prstGeom prst="rect">
            <a:avLst/>
          </a:prstGeom>
          <a:solidFill>
            <a:srgbClr val="152535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1168" y="2706624"/>
            <a:ext cx="64008" cy="804672"/>
          </a:xfrm>
          <a:prstGeom prst="rect">
            <a:avLst/>
          </a:prstGeom>
          <a:solidFill>
            <a:srgbClr val="0F6B5A"/>
          </a:solidFill>
          <a:ln w="12700">
            <a:solidFill>
              <a:srgbClr val="0F6B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7614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Vprašanja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472" y="3072384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Vprašanja udeležencev o izvedbi, tehnikah ali protokolih.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01168" y="3675888"/>
            <a:ext cx="8741664" cy="804672"/>
          </a:xfrm>
          <a:prstGeom prst="rect">
            <a:avLst/>
          </a:prstGeom>
          <a:solidFill>
            <a:srgbClr val="152535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1168" y="3675888"/>
            <a:ext cx="64008" cy="804672"/>
          </a:xfrm>
          <a:prstGeom prst="rect">
            <a:avLst/>
          </a:prstGeom>
          <a:solidFill>
            <a:srgbClr val="0F6B5A"/>
          </a:solidFill>
          <a:ln w="12700">
            <a:solidFill>
              <a:srgbClr val="0F6B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37307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Komentarji mentorjev PNMP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7472" y="404164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Splošne napake in možne izboljšave. Pohvale za dobro opravljeno delo.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6217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0"/>
            <a:ext cx="8778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Poudarki za nadaljnje delo – Čelada in medenični pas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01184"/>
            <a:ext cx="877824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Obnovitvena delavnica – Prometna nesreča · GZL, 12. 5. 2025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01168" y="749808"/>
            <a:ext cx="4261104" cy="310896"/>
          </a:xfrm>
          <a:prstGeom prst="rect">
            <a:avLst/>
          </a:prstGeom>
          <a:solidFill>
            <a:srgbClr val="C17D0A"/>
          </a:solidFill>
          <a:ln w="12700">
            <a:solidFill>
              <a:srgbClr val="C17D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49808"/>
            <a:ext cx="4151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Snemanje čelade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01168" y="1115568"/>
            <a:ext cx="4261104" cy="3145536"/>
          </a:xfrm>
          <a:prstGeom prst="rect">
            <a:avLst/>
          </a:prstGeom>
          <a:solidFill>
            <a:srgbClr val="152535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" y="1188720"/>
            <a:ext cx="4059936" cy="2999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15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Pozorni smo, da glava ne »omahne«</a:t>
            </a:r>
            <a:endParaRPr lang="en-US" sz="115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15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Pazimo nos</a:t>
            </a:r>
            <a:endParaRPr lang="en-US" sz="115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15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 čas ročno varujemo vratno hrbtenico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81728" y="749808"/>
            <a:ext cx="4261104" cy="310896"/>
          </a:xfrm>
          <a:prstGeom prst="rect">
            <a:avLst/>
          </a:prstGeom>
          <a:solidFill>
            <a:srgbClr val="0F6B5A"/>
          </a:solidFill>
          <a:ln w="12700">
            <a:solidFill>
              <a:srgbClr val="0F6B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749808"/>
            <a:ext cx="4151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Medenični pas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81728" y="1115568"/>
            <a:ext cx="4261104" cy="3145536"/>
          </a:xfrm>
          <a:prstGeom prst="rect">
            <a:avLst/>
          </a:prstGeom>
          <a:solidFill>
            <a:srgbClr val="152535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9744" y="1188720"/>
            <a:ext cx="4059936" cy="2999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15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 sumu na poškodbo medenice</a:t>
            </a:r>
            <a:endParaRPr lang="en-US" sz="115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15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»žagamo« – rahlo privzdignemo in povlečemo pas na pravo mesto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6217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0"/>
            <a:ext cx="8778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Poudarki za nadaljnje delo – Zajemalna nosila in iznos iz vozila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01184"/>
            <a:ext cx="877824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Obnovitvena delavnica – Prometna nesreča · GZL, 12. 5. 2025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01168" y="749808"/>
            <a:ext cx="4261104" cy="310896"/>
          </a:xfrm>
          <a:prstGeom prst="rect">
            <a:avLst/>
          </a:prstGeom>
          <a:solidFill>
            <a:srgbClr val="1A7A40"/>
          </a:solidFill>
          <a:ln w="12700">
            <a:solidFill>
              <a:srgbClr val="1A7A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49808"/>
            <a:ext cx="4151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Zajemalna nosila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01168" y="1115568"/>
            <a:ext cx="4261104" cy="3145536"/>
          </a:xfrm>
          <a:prstGeom prst="rect">
            <a:avLst/>
          </a:prstGeom>
          <a:solidFill>
            <a:srgbClr val="152535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" y="1188720"/>
            <a:ext cx="4059936" cy="2999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15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Zajemanje ali zvračanje na nosila – kdaj?</a:t>
            </a:r>
            <a:endParaRPr lang="en-US" sz="115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15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Pravilna namestitev dolžine nosil</a:t>
            </a:r>
            <a:endParaRPr lang="en-US" sz="115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15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Prenos poškodovancev z nosili – kje držimo za nosila?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81728" y="749808"/>
            <a:ext cx="4261104" cy="310896"/>
          </a:xfrm>
          <a:prstGeom prst="rect">
            <a:avLst/>
          </a:prstGeom>
          <a:solidFill>
            <a:srgbClr val="C17D0A"/>
          </a:solidFill>
          <a:ln w="12700">
            <a:solidFill>
              <a:srgbClr val="C17D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749808"/>
            <a:ext cx="4151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Iznos iz vozila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81728" y="1115568"/>
            <a:ext cx="4261104" cy="3145536"/>
          </a:xfrm>
          <a:prstGeom prst="rect">
            <a:avLst/>
          </a:prstGeom>
          <a:solidFill>
            <a:srgbClr val="152535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9744" y="1188720"/>
            <a:ext cx="4059936" cy="2999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15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Hitri ali urgentni iznos? KED?</a:t>
            </a:r>
            <a:endParaRPr lang="en-US" sz="115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15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Pozorni smo na stalno ročno varovanje vratne hrbtenice</a:t>
            </a:r>
            <a:endParaRPr lang="en-US" sz="115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15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 obračnju in zvračanju na nosila smo pozorni na noge in zatikanje v armaturo</a:t>
            </a:r>
            <a:endParaRPr lang="en-US" sz="115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15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Komunikacija!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6217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0"/>
            <a:ext cx="8778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Poudarki za nadaljnje delo – Pregled poškodovanca in imobilizacija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01184"/>
            <a:ext cx="877824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Obnovitvena delavnica – Prometna nesreča · GZL, 12. 5. 2025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01168" y="749808"/>
            <a:ext cx="4261104" cy="31089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49808"/>
            <a:ext cx="4151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Pregled poškodovanca (protokol ITLS)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01168" y="1115568"/>
            <a:ext cx="4261104" cy="3145536"/>
          </a:xfrm>
          <a:prstGeom prst="rect">
            <a:avLst/>
          </a:prstGeom>
          <a:solidFill>
            <a:srgbClr val="152535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" y="1188720"/>
            <a:ext cx="4059936" cy="2999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15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Zakaj je pomembno delo po protokolu</a:t>
            </a:r>
            <a:endParaRPr lang="en-US" sz="115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15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ABC, vratna opornica, kisik</a:t>
            </a:r>
            <a:endParaRPr lang="en-US" sz="115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15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Preverjanje medenice</a:t>
            </a:r>
            <a:endParaRPr lang="en-US" sz="115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15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Kdaj se pregled lahko prekine?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81728" y="749808"/>
            <a:ext cx="4261104" cy="310896"/>
          </a:xfrm>
          <a:prstGeom prst="rect">
            <a:avLst/>
          </a:prstGeom>
          <a:solidFill>
            <a:srgbClr val="0F6B5A"/>
          </a:solidFill>
          <a:ln w="12700">
            <a:solidFill>
              <a:srgbClr val="0F6B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749808"/>
            <a:ext cx="4151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Imobilizacija stoječega poškodovanca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81728" y="1115568"/>
            <a:ext cx="4261104" cy="3145536"/>
          </a:xfrm>
          <a:prstGeom prst="rect">
            <a:avLst/>
          </a:prstGeom>
          <a:solidFill>
            <a:srgbClr val="152535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9744" y="1188720"/>
            <a:ext cx="4059936" cy="2999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15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Kdaj in zakaj</a:t>
            </a:r>
            <a:endParaRPr lang="en-US" sz="115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15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Kako s strani ročno varujemo vratno hrbtenico</a:t>
            </a:r>
            <a:endParaRPr lang="en-US" sz="115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15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Previdni pri spustu (hrbet!)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6217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0"/>
            <a:ext cx="8778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Poudarki za nadaljnje delo – Hipoglikemija in otrok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01184"/>
            <a:ext cx="877824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Obnovitvena delavnica – Prometna nesreča · GZL, 12. 5. 2025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01168" y="749808"/>
            <a:ext cx="4261104" cy="310896"/>
          </a:xfrm>
          <a:prstGeom prst="rect">
            <a:avLst/>
          </a:prstGeom>
          <a:solidFill>
            <a:srgbClr val="C17D0A"/>
          </a:solidFill>
          <a:ln w="12700">
            <a:solidFill>
              <a:srgbClr val="C17D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49808"/>
            <a:ext cx="4151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Hipoglikemija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01168" y="1115568"/>
            <a:ext cx="4261104" cy="3145536"/>
          </a:xfrm>
          <a:prstGeom prst="rect">
            <a:avLst/>
          </a:prstGeom>
          <a:solidFill>
            <a:srgbClr val="152535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" y="1188720"/>
            <a:ext cx="4059936" cy="2999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15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Pomembna anamneza</a:t>
            </a:r>
            <a:endParaRPr lang="en-US" sz="115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15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Kako jo prepoznamo</a:t>
            </a:r>
            <a:endParaRPr lang="en-US" sz="115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15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Kako ukrepamo z inzulinsko črpalko</a:t>
            </a:r>
            <a:endParaRPr lang="en-US" sz="115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15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Kdaj in koliko damo za jesti / piti? AVPU?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81728" y="749808"/>
            <a:ext cx="4261104" cy="310896"/>
          </a:xfrm>
          <a:prstGeom prst="rect">
            <a:avLst/>
          </a:prstGeom>
          <a:solidFill>
            <a:srgbClr val="1A7A40"/>
          </a:solidFill>
          <a:ln w="12700">
            <a:solidFill>
              <a:srgbClr val="1A7A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749808"/>
            <a:ext cx="4151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Otrok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81728" y="1115568"/>
            <a:ext cx="4261104" cy="3145536"/>
          </a:xfrm>
          <a:prstGeom prst="rect">
            <a:avLst/>
          </a:prstGeom>
          <a:solidFill>
            <a:srgbClr val="152535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9744" y="1188720"/>
            <a:ext cx="4059936" cy="2999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15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Ocenimo starost in nato primerna komunikacija glede na starost</a:t>
            </a:r>
            <a:endParaRPr lang="en-US" sz="115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15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Vključevanje staršev ali svojcev!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82296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Hvala vsem za sodelovanje!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92608" y="1426464"/>
            <a:ext cx="164592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1609344"/>
            <a:ext cx="8503920" cy="493776"/>
          </a:xfrm>
          <a:prstGeom prst="rect">
            <a:avLst/>
          </a:prstGeom>
          <a:solidFill>
            <a:srgbClr val="152535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" y="1609344"/>
            <a:ext cx="64008" cy="493776"/>
          </a:xfrm>
          <a:prstGeom prst="rect">
            <a:avLst/>
          </a:prstGeom>
          <a:solidFill>
            <a:srgbClr val="0F6B5A"/>
          </a:solidFill>
          <a:ln w="12700">
            <a:solidFill>
              <a:srgbClr val="0F6B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09344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Vprašanja?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92608" y="2267712"/>
            <a:ext cx="8503920" cy="493776"/>
          </a:xfrm>
          <a:prstGeom prst="rect">
            <a:avLst/>
          </a:prstGeom>
          <a:solidFill>
            <a:srgbClr val="152535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" y="2267712"/>
            <a:ext cx="64008" cy="493776"/>
          </a:xfrm>
          <a:prstGeom prst="rect">
            <a:avLst/>
          </a:prstGeom>
          <a:solidFill>
            <a:srgbClr val="C17D0A"/>
          </a:solidFill>
          <a:ln w="12700">
            <a:solidFill>
              <a:srgbClr val="C17D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67712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Pohvale, pritožbe, predlogi za naprej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92608" y="2926080"/>
            <a:ext cx="8503920" cy="493776"/>
          </a:xfrm>
          <a:prstGeom prst="rect">
            <a:avLst/>
          </a:prstGeom>
          <a:solidFill>
            <a:srgbClr val="152535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" y="2926080"/>
            <a:ext cx="64008" cy="493776"/>
          </a:xfrm>
          <a:prstGeom prst="rect">
            <a:avLst/>
          </a:prstGeom>
          <a:solidFill>
            <a:srgbClr val="3A5570"/>
          </a:solidFill>
          <a:ln w="12700">
            <a:solidFill>
              <a:srgbClr val="3A55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926080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(pride QR koda za anketo)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6217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0"/>
            <a:ext cx="8778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Scenarij presenečenja – potek uvoda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01184"/>
            <a:ext cx="877824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Obnovitvena delavnica – Prometna nesreča · GZL, 12. 5. 2025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01168" y="749808"/>
            <a:ext cx="8741664" cy="987552"/>
          </a:xfrm>
          <a:prstGeom prst="rect">
            <a:avLst/>
          </a:prstGeom>
          <a:solidFill>
            <a:srgbClr val="1B3A5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749808"/>
            <a:ext cx="64008" cy="987552"/>
          </a:xfrm>
          <a:prstGeom prst="rect">
            <a:avLst/>
          </a:prstGeom>
          <a:solidFill>
            <a:srgbClr val="C17D0A"/>
          </a:solidFill>
          <a:ln w="12700">
            <a:solidFill>
              <a:srgbClr val="C17D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8046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17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Zbirno mesto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7472" y="1078992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 se zberemo v garaži 12 – kjer smo po navadi. Tečajnike pozdravimo in prosimo, da pripravijo opremo in jo zložijo pred garaže, ter jih razdelimo po skupinah za nadaljnje delo (4 točke).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01168" y="1828800"/>
            <a:ext cx="8741664" cy="987552"/>
          </a:xfrm>
          <a:prstGeom prst="rect">
            <a:avLst/>
          </a:prstGeom>
          <a:solidFill>
            <a:srgbClr val="200A0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" y="1828800"/>
            <a:ext cx="64008" cy="9875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8836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88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7472" y="2157984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Enega določimo – »TI SI VODJA«. V tem en od mentorjev priteče iz garaže 5 in zakriči: »Pomagajte, prometna nesreča!«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01168" y="2907792"/>
            <a:ext cx="8741664" cy="914400"/>
          </a:xfrm>
          <a:prstGeom prst="rect">
            <a:avLst/>
          </a:prstGeom>
          <a:solidFill>
            <a:srgbClr val="152535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96265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Pričakovani odziv ekipe: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7472" y="3218688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Alarmiranje, prevzem opreme, razporeditev nalog v skupini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Pristop k sceni, pregled varnosti, komunikacija z dispečerjem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Vzpostavitev vodje intervencije in razporeditev vlog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6217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0"/>
            <a:ext cx="8778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Scenarij presenečenja – opis prometne nesreče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01184"/>
            <a:ext cx="877824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Obnovitvena delavnica – Prometna nesreča · GZL, 12. 5. 2025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01168" y="749808"/>
            <a:ext cx="8741664" cy="658368"/>
          </a:xfrm>
          <a:prstGeom prst="rect">
            <a:avLst/>
          </a:prstGeom>
          <a:solidFill>
            <a:srgbClr val="1B3A5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" y="786384"/>
            <a:ext cx="84856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Voznik osebnega vozila je med vožnjo zadel v motor, na katerem sta bili dve osebi. Zaradi nepozornosti je v zadnji del vozila priletelo še drugo vozilo, v katerem je tudi otrok.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168" y="1499616"/>
            <a:ext cx="2816352" cy="2798064"/>
          </a:xfrm>
          <a:prstGeom prst="rect">
            <a:avLst/>
          </a:prstGeom>
          <a:solidFill>
            <a:srgbClr val="152535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" y="1499616"/>
            <a:ext cx="2816352" cy="329184"/>
          </a:xfrm>
          <a:prstGeom prst="rect">
            <a:avLst/>
          </a:prstGeom>
          <a:solidFill>
            <a:srgbClr val="C17D0A"/>
          </a:solidFill>
          <a:ln w="12700">
            <a:solidFill>
              <a:srgbClr val="C17D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1499616"/>
            <a:ext cx="2816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AVTO 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2608" y="1883664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dve osebi, blag trk v motor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2608" y="224942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Podrobnosti: naslednji diapozitiv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82112" y="1499616"/>
            <a:ext cx="2816352" cy="2798064"/>
          </a:xfrm>
          <a:prstGeom prst="rect">
            <a:avLst/>
          </a:prstGeom>
          <a:solidFill>
            <a:srgbClr val="152535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82112" y="1499616"/>
            <a:ext cx="2816352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82112" y="1499616"/>
            <a:ext cx="2816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AVTO 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73552" y="1883664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dva odrasla + en otrok, močnejši trk v AVTO 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73552" y="224942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Podrobnosti: naslednji diapozitiv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63056" y="1499616"/>
            <a:ext cx="2816352" cy="2798064"/>
          </a:xfrm>
          <a:prstGeom prst="rect">
            <a:avLst/>
          </a:prstGeom>
          <a:solidFill>
            <a:srgbClr val="152535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63056" y="1499616"/>
            <a:ext cx="2816352" cy="329184"/>
          </a:xfrm>
          <a:prstGeom prst="rect">
            <a:avLst/>
          </a:prstGeom>
          <a:solidFill>
            <a:srgbClr val="0F6B5A"/>
          </a:solidFill>
          <a:ln w="12700">
            <a:solidFill>
              <a:srgbClr val="0F6B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63056" y="1499616"/>
            <a:ext cx="2816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54496" y="1883664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dve osebi, zbit, na boku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54496" y="224942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Podrobnosti: naslednji diapozitiv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6217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0"/>
            <a:ext cx="8778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Poškodovanci – opis stanja po vozilih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01184"/>
            <a:ext cx="877824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Obnovitvena delavnica – Prometna nesreča · GZL, 12. 5. 2025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01168" y="749808"/>
            <a:ext cx="2816352" cy="4059936"/>
          </a:xfrm>
          <a:prstGeom prst="rect">
            <a:avLst/>
          </a:prstGeom>
          <a:solidFill>
            <a:srgbClr val="152535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749808"/>
            <a:ext cx="2816352" cy="310896"/>
          </a:xfrm>
          <a:prstGeom prst="rect">
            <a:avLst/>
          </a:prstGeom>
          <a:solidFill>
            <a:srgbClr val="C17D0A"/>
          </a:solidFill>
          <a:ln w="12700">
            <a:solidFill>
              <a:srgbClr val="C17D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" y="749808"/>
            <a:ext cx="28163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AVTO 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92608" y="1115568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17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VOZNIK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92608" y="1335024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Hipoglikemija + bolečine v obeh zapestjih. Bled, poten, zmeden, tahikarden.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92608" y="1956816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17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SOVOZNIK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92608" y="2176272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Kontuzijska značka od pasu, hude bolečine v vratu in glavi, brez nevroloških izpadov.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82112" y="749808"/>
            <a:ext cx="2816352" cy="4059936"/>
          </a:xfrm>
          <a:prstGeom prst="rect">
            <a:avLst/>
          </a:prstGeom>
          <a:solidFill>
            <a:srgbClr val="152535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82112" y="749808"/>
            <a:ext cx="2816352" cy="31089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82112" y="749808"/>
            <a:ext cx="28163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AVTO 2 (sproženi airbagi)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73552" y="1115568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VOZNIK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73552" y="1335024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BPK, bolečine v trebuhu (varnostni pas), poškodovano koleno, bolečine v hrbtu.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73552" y="1956816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SOVOZNIK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73552" y="2176272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Nepripet, nezavesten, VF prisotne, razpočna rana na glavi DESNO.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73552" y="2798064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OTROK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73552" y="301752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Sedel zadaj, neutolažljivo joka, boli ga vrat, odrgnina po vratu od varnostnega pasu.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63056" y="749808"/>
            <a:ext cx="2816352" cy="4059936"/>
          </a:xfrm>
          <a:prstGeom prst="rect">
            <a:avLst/>
          </a:prstGeom>
          <a:solidFill>
            <a:srgbClr val="152535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63056" y="749808"/>
            <a:ext cx="2816352" cy="310896"/>
          </a:xfrm>
          <a:prstGeom prst="rect">
            <a:avLst/>
          </a:prstGeom>
          <a:solidFill>
            <a:srgbClr val="0F6B5A"/>
          </a:solidFill>
          <a:ln w="12700">
            <a:solidFill>
              <a:srgbClr val="0F6B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63056" y="749808"/>
            <a:ext cx="28163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54496" y="1115568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6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VOZNIK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54496" y="1335024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Leži pod motorjem, čelada na glavi, vidno udarjena, ne more se rešiti, bolečine v stisnjeni nogi, boleč pritisk na simfizo.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54496" y="1956816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6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SOVOZNIK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54496" y="2176272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Padel z motorja, sedi v bližini, poškodovan gleženj, manjše odrgnine.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6217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0"/>
            <a:ext cx="8778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Poškodovanci – markiranti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01184"/>
            <a:ext cx="877824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Obnovitvena delavnica – Prometna nesreča · GZL, 12. 5. 2025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01168" y="749808"/>
            <a:ext cx="8741664" cy="3474720"/>
          </a:xfrm>
          <a:prstGeom prst="rect">
            <a:avLst/>
          </a:prstGeom>
          <a:solidFill>
            <a:srgbClr val="152535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987552"/>
            <a:ext cx="237744" cy="237744"/>
          </a:xfrm>
          <a:prstGeom prst="rect">
            <a:avLst/>
          </a:prstGeom>
          <a:solidFill>
            <a:srgbClr val="0F6B5A"/>
          </a:solidFill>
          <a:ln w="12700">
            <a:solidFill>
              <a:srgbClr val="0F6B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98755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94944" y="98755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Julija Demšar (11 let)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84048" y="1499616"/>
            <a:ext cx="237744" cy="237744"/>
          </a:xfrm>
          <a:prstGeom prst="rect">
            <a:avLst/>
          </a:prstGeom>
          <a:solidFill>
            <a:srgbClr val="0F6B5A"/>
          </a:solidFill>
          <a:ln w="12700">
            <a:solidFill>
              <a:srgbClr val="0F6B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49961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94944" y="149961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Božidar Zlatanov (16 let)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84048" y="2011680"/>
            <a:ext cx="237744" cy="237744"/>
          </a:xfrm>
          <a:prstGeom prst="rect">
            <a:avLst/>
          </a:prstGeom>
          <a:solidFill>
            <a:srgbClr val="0F6B5A"/>
          </a:solidFill>
          <a:ln w="12700">
            <a:solidFill>
              <a:srgbClr val="0F6B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01168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94944" y="20116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Matjaž Demšar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84048" y="2523744"/>
            <a:ext cx="237744" cy="237744"/>
          </a:xfrm>
          <a:prstGeom prst="rect">
            <a:avLst/>
          </a:prstGeom>
          <a:solidFill>
            <a:srgbClr val="0F6B5A"/>
          </a:solidFill>
          <a:ln w="12700">
            <a:solidFill>
              <a:srgbClr val="0F6B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52374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94944" y="252374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Katarina Romšak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84048" y="3035808"/>
            <a:ext cx="237744" cy="237744"/>
          </a:xfrm>
          <a:prstGeom prst="rect">
            <a:avLst/>
          </a:prstGeom>
          <a:solidFill>
            <a:srgbClr val="0F6B5A"/>
          </a:solidFill>
          <a:ln w="12700">
            <a:solidFill>
              <a:srgbClr val="0F6B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03580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94944" y="303580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Nina Bohinjc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73168" y="987552"/>
            <a:ext cx="237744" cy="237744"/>
          </a:xfrm>
          <a:prstGeom prst="rect">
            <a:avLst/>
          </a:prstGeom>
          <a:solidFill>
            <a:srgbClr val="0F6B5A"/>
          </a:solidFill>
          <a:ln w="12700">
            <a:solidFill>
              <a:srgbClr val="0F6B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98755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84064" y="98755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Nina Poklukar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73168" y="1499616"/>
            <a:ext cx="237744" cy="237744"/>
          </a:xfrm>
          <a:prstGeom prst="rect">
            <a:avLst/>
          </a:prstGeom>
          <a:solidFill>
            <a:srgbClr val="0F6B5A"/>
          </a:solidFill>
          <a:ln w="12700">
            <a:solidFill>
              <a:srgbClr val="0F6B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149961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84064" y="149961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Miha Ogris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73168" y="2011680"/>
            <a:ext cx="237744" cy="237744"/>
          </a:xfrm>
          <a:prstGeom prst="rect">
            <a:avLst/>
          </a:prstGeom>
          <a:solidFill>
            <a:srgbClr val="0F6B5A"/>
          </a:solidFill>
          <a:ln w="12700">
            <a:solidFill>
              <a:srgbClr val="0F6B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73168" y="201168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84064" y="20116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Janja Oman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773168" y="2523744"/>
            <a:ext cx="237744" cy="237744"/>
          </a:xfrm>
          <a:prstGeom prst="rect">
            <a:avLst/>
          </a:prstGeom>
          <a:solidFill>
            <a:srgbClr val="0F6B5A"/>
          </a:solidFill>
          <a:ln w="12700">
            <a:solidFill>
              <a:srgbClr val="0F6B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73168" y="252374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84064" y="252374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Boris Kolman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773168" y="3035808"/>
            <a:ext cx="237744" cy="237744"/>
          </a:xfrm>
          <a:prstGeom prst="rect">
            <a:avLst/>
          </a:prstGeom>
          <a:solidFill>
            <a:srgbClr val="0F6B5A"/>
          </a:solidFill>
          <a:ln w="12700">
            <a:solidFill>
              <a:srgbClr val="0F6B5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73168" y="303580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084064" y="303580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Kastelic Maša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201168" y="4315968"/>
            <a:ext cx="8741664" cy="384048"/>
          </a:xfrm>
          <a:prstGeom prst="rect">
            <a:avLst/>
          </a:prstGeom>
          <a:solidFill>
            <a:srgbClr val="1A1500"/>
          </a:solidFill>
          <a:ln w="12700">
            <a:solidFill>
              <a:srgbClr val="C17D0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0896" y="4315968"/>
            <a:ext cx="8558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8A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Markiranti so bili poučeni o vlogi in pričakovanem vedenju. Vsi so podpisali soglasje za sodelovanje.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6217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0"/>
            <a:ext cx="8778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Vprašanja za razmislek – organizacija vadbe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01184"/>
            <a:ext cx="877824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Obnovitvena delavnica – Prometna nesreča · GZL, 12. 5. 2025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01168" y="768096"/>
            <a:ext cx="8741664" cy="1152144"/>
          </a:xfrm>
          <a:prstGeom prst="rect">
            <a:avLst/>
          </a:prstGeom>
          <a:solidFill>
            <a:srgbClr val="152535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768096"/>
            <a:ext cx="64008" cy="1152144"/>
          </a:xfrm>
          <a:prstGeom prst="rect">
            <a:avLst/>
          </a:prstGeom>
          <a:solidFill>
            <a:srgbClr val="C17D0A"/>
          </a:solidFill>
          <a:ln w="12700">
            <a:solidFill>
              <a:srgbClr val="C17D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84124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Voznik AVTO 1 – si sposodimo inzulinsko črpalko ali damo tablete za KS?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47472" y="1280160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Odvisno od vrednosti KS in stanja zavesti. AVPU test je ključen pred odločitvijo.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01168" y="2084832"/>
            <a:ext cx="8741664" cy="1152144"/>
          </a:xfrm>
          <a:prstGeom prst="rect">
            <a:avLst/>
          </a:prstGeom>
          <a:solidFill>
            <a:srgbClr val="152535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" y="2084832"/>
            <a:ext cx="64008" cy="1152144"/>
          </a:xfrm>
          <a:prstGeom prst="rect">
            <a:avLst/>
          </a:prstGeom>
          <a:solidFill>
            <a:srgbClr val="1A7A40"/>
          </a:solidFill>
          <a:ln w="12700">
            <a:solidFill>
              <a:srgbClr val="1A7A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157984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Pripravimo tabelo VF za otroka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47472" y="2596896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Referenčne vrednosti se razlikujejo glede na starost. Imamo pri sebi ustrezno tabelo ali aplikacijo?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01168" y="3401568"/>
            <a:ext cx="8741664" cy="1152144"/>
          </a:xfrm>
          <a:prstGeom prst="rect">
            <a:avLst/>
          </a:prstGeom>
          <a:solidFill>
            <a:srgbClr val="152535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1168" y="3401568"/>
            <a:ext cx="64008" cy="1152144"/>
          </a:xfrm>
          <a:prstGeom prst="rect">
            <a:avLst/>
          </a:prstGeom>
          <a:solidFill>
            <a:srgbClr val="0F6B5A"/>
          </a:solidFill>
          <a:ln w="12700">
            <a:solidFill>
              <a:srgbClr val="0F6B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34747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Maskiranje za scenarij presenečenja – maskiranje za delo po točkah: JA / NE?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47472" y="3913632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Diskusija: Ali realistično maskiranje izboljša kakovost vadbe ali povzroča nepotrebno zmedo?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6217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0"/>
            <a:ext cx="8778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Komentarji mentorjev PNMP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01184"/>
            <a:ext cx="877824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Obnovitvena delavnica – Prometna nesreča · GZL, 12. 5. 2025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01168" y="786384"/>
            <a:ext cx="8741664" cy="1664208"/>
          </a:xfrm>
          <a:prstGeom prst="rect">
            <a:avLst/>
          </a:prstGeom>
          <a:solidFill>
            <a:srgbClr val="152535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786384"/>
            <a:ext cx="64008" cy="1664208"/>
          </a:xfrm>
          <a:prstGeom prst="rect">
            <a:avLst/>
          </a:prstGeom>
          <a:solidFill>
            <a:srgbClr val="C17D0A"/>
          </a:solidFill>
          <a:ln w="12700">
            <a:solidFill>
              <a:srgbClr val="C17D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877824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Izvedba prikaza pri scenariju presenečenja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" y="1280160"/>
            <a:ext cx="84124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Glede na to, da bo takoj scenarij in kratka teoretična ponovitev – ali mora biti na točki prva izvedba prikaz s strain inštruktorja?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1168" y="2706624"/>
            <a:ext cx="8741664" cy="1664208"/>
          </a:xfrm>
          <a:prstGeom prst="rect">
            <a:avLst/>
          </a:prstGeom>
          <a:solidFill>
            <a:srgbClr val="152535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" y="2706624"/>
            <a:ext cx="64008" cy="16642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798064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Hipoglikemija pri sladkornih bolnikih z višjimi vrednostmi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" y="3200400"/>
            <a:ext cx="84124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Znaki hipoglikemije pri sladkornih bolnikih, ki imajo povprečno višje vrednosti sladkorja, se pojavijo tudi pri vrednostih KS nad spodnjo mejo. Pri nepojasnjeni zmedenosti ali motnjah zavesti – brez evidentne poškodbe glave VEDNO preverimo KS.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01168" y="4608576"/>
            <a:ext cx="8741664" cy="274320"/>
          </a:xfrm>
          <a:prstGeom prst="rect">
            <a:avLst/>
          </a:prstGeom>
          <a:solidFill>
            <a:srgbClr val="1A1500"/>
          </a:solidFill>
          <a:ln w="12700">
            <a:solidFill>
              <a:srgbClr val="C17D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" y="4608576"/>
            <a:ext cx="8558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8A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Komentarji so namenjeni izključno mentorjem in vodjem vadbe – niso del javnega gradiva.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2026-05-25T10:44:39Z</dcterms:created>
  <dcterms:modified xsi:type="dcterms:W3CDTF">2026-05-25T10:44:39Z</dcterms:modified>
</cp:coreProperties>
</file>