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914400"/>
            <a:ext cx="8503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MNOŽIČNE NESREČE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74320" y="1261872"/>
            <a:ext cx="8503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Predbolnišnična raven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vloga gasilcev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274320" y="2834640"/>
            <a:ext cx="1645920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2944368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Gradivo temelji na Smernicah za delovanje sistema NMP ob množičnih nesrečah – MZ RS, Ljubljana 2013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8016" cy="60350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19456" y="0"/>
            <a:ext cx="8778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Kaj je množična nesreča – osnovna definicija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4901184"/>
            <a:ext cx="713232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Usposabljanje gasilcev – Množične nesreče, predbolnišnična raven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406640" y="4901184"/>
            <a:ext cx="155448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2E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Smernice MZ RS, 2013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01168" y="694944"/>
            <a:ext cx="8741664" cy="548640"/>
          </a:xfrm>
          <a:prstGeom prst="rect">
            <a:avLst/>
          </a:prstGeom>
          <a:solidFill>
            <a:srgbClr val="1B3A5C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" y="694944"/>
            <a:ext cx="64008" cy="548640"/>
          </a:xfrm>
          <a:prstGeom prst="rect">
            <a:avLst/>
          </a:prstGeom>
          <a:solidFill>
            <a:srgbClr val="0F6B5A"/>
          </a:solidFill>
          <a:ln w="12700">
            <a:solidFill>
              <a:srgbClr val="0F6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713232"/>
            <a:ext cx="848563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MNOŽIČNA NESREČA je vsak nenaden, nepričakovan dogodek z večjim številom poškodovanih ali nenadno obolelih, ki ga ne moremo obvladati z rednimi oziroma v trenutku nesreče razpoložljivimi zmogljivostmi.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" y="1335024"/>
            <a:ext cx="4261104" cy="292608"/>
          </a:xfrm>
          <a:prstGeom prst="rect">
            <a:avLst/>
          </a:prstGeom>
          <a:solidFill>
            <a:srgbClr val="0F6B5A"/>
          </a:solidFill>
          <a:ln w="12700">
            <a:solidFill>
              <a:srgbClr val="0F6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335024"/>
            <a:ext cx="41513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MNOŽIČNA NESREČA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01168" y="1627632"/>
            <a:ext cx="4261104" cy="2395728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" y="1700784"/>
            <a:ext cx="4041648" cy="22494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Obseg, ki ga ne moremo obvladati z rednimi zmogljivostmi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Možno jo je obvladati v doglednem času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Aktivira se načrt za množične nesreče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Primer: huda prometna nesreča, rušenje stavbe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81728" y="1335024"/>
            <a:ext cx="4261104" cy="2926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1335024"/>
            <a:ext cx="41513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KATASTROFA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81728" y="1627632"/>
            <a:ext cx="4261104" cy="2395728"/>
          </a:xfrm>
          <a:prstGeom prst="rect">
            <a:avLst/>
          </a:prstGeom>
          <a:solidFill>
            <a:srgbClr val="1A0808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9744" y="1700784"/>
            <a:ext cx="4041648" cy="22494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Obseg, ki ga v doglednem času NI mogoče obvladati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Primer: rušilni potres, obsežna poplava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Aktivira se širši načrt za izredne razmere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Vključuje ukrepe za celoten zavod (energija, evakuacija ...)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01168" y="4114800"/>
            <a:ext cx="8741664" cy="621792"/>
          </a:xfrm>
          <a:prstGeom prst="rect">
            <a:avLst/>
          </a:prstGeom>
          <a:solidFill>
            <a:srgbClr val="181200"/>
          </a:solidFill>
          <a:ln w="12700">
            <a:solidFill>
              <a:srgbClr val="C17D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0896" y="4114800"/>
            <a:ext cx="855878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8A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Načrt za množične nesreče morajo poznati VSI zaposleni. Ukrepe je treba redno preverjati z vajami!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8016" cy="60350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19456" y="0"/>
            <a:ext cx="8778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Vrste nesreč z večjim številom ponesrečenih v Sloveniji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4901184"/>
            <a:ext cx="713232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Usposabljanje gasilcev – Množične nesreče, predbolnišnična raven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406640" y="4901184"/>
            <a:ext cx="155448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2E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Smernice MZ RS, 2013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01168" y="749808"/>
            <a:ext cx="2103120" cy="1828800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" y="749808"/>
            <a:ext cx="21031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749808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POTRES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92608" y="1133856"/>
            <a:ext cx="1956816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~1/3 preb. ogroženih, 21% površine. Sledijo požari, eksplozije, epidemije.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414016" y="749808"/>
            <a:ext cx="2103120" cy="1828800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14016" y="749808"/>
            <a:ext cx="2103120" cy="329184"/>
          </a:xfrm>
          <a:prstGeom prst="rect">
            <a:avLst/>
          </a:prstGeom>
          <a:solidFill>
            <a:srgbClr val="8B3000"/>
          </a:solidFill>
          <a:ln w="12700">
            <a:solidFill>
              <a:srgbClr val="8B3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87168" y="749808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CESTNI PROMET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05456" y="1133856"/>
            <a:ext cx="1956816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Verižne trčitve, nesreče v predorih. Povpr. 32.000 nesreč letno.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26864" y="749808"/>
            <a:ext cx="2103120" cy="1828800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26864" y="749808"/>
            <a:ext cx="2103120" cy="329184"/>
          </a:xfrm>
          <a:prstGeom prst="rect">
            <a:avLst/>
          </a:prstGeom>
          <a:solidFill>
            <a:srgbClr val="C17D0A"/>
          </a:solidFill>
          <a:ln w="12700">
            <a:solidFill>
              <a:srgbClr val="C17D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00016" y="749808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ŽELEZNICA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718304" y="1133856"/>
            <a:ext cx="1956816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Trčenje, iztirjenje, požar. Povpr. 90 potnikov na vlak.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39712" y="749808"/>
            <a:ext cx="2103120" cy="1828800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39712" y="749808"/>
            <a:ext cx="2103120" cy="329184"/>
          </a:xfrm>
          <a:prstGeom prst="rect">
            <a:avLst/>
          </a:prstGeom>
          <a:solidFill>
            <a:srgbClr val="7A6000"/>
          </a:solidFill>
          <a:ln w="12700">
            <a:solidFill>
              <a:srgbClr val="7A6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12864" y="749808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LETALSKA NESREČA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931152" y="1133856"/>
            <a:ext cx="1956816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 nesreč pri vzletih in pristankih. LJU, MBX, POW, Cerklje.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01168" y="2724912"/>
            <a:ext cx="2103120" cy="1828800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1168" y="2724912"/>
            <a:ext cx="2103120" cy="329184"/>
          </a:xfrm>
          <a:prstGeom prst="rect">
            <a:avLst/>
          </a:prstGeom>
          <a:solidFill>
            <a:srgbClr val="1A4A6A"/>
          </a:solidFill>
          <a:ln w="12700">
            <a:solidFill>
              <a:srgbClr val="1A4A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724912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NEVARNE SNOVI (KBRJ)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92608" y="3108960"/>
            <a:ext cx="1956816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Kemijske, biološke, jedrske, radiološke. NEK Krško: polmer 10 km.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414016" y="2724912"/>
            <a:ext cx="2103120" cy="1828800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414016" y="2724912"/>
            <a:ext cx="2103120" cy="329184"/>
          </a:xfrm>
          <a:prstGeom prst="rect">
            <a:avLst/>
          </a:prstGeom>
          <a:solidFill>
            <a:srgbClr val="0F6B5A"/>
          </a:solidFill>
          <a:ln w="12700">
            <a:solidFill>
              <a:srgbClr val="0F6B5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487168" y="2724912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EPIDEMIJE / PANDEMIJE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2505456" y="3108960"/>
            <a:ext cx="1956816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Naravne nesreče pogosto sprožijo izbruh nalezljivih bolezni.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26864" y="2724912"/>
            <a:ext cx="2103120" cy="1828800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26864" y="2724912"/>
            <a:ext cx="2103120" cy="329184"/>
          </a:xfrm>
          <a:prstGeom prst="rect">
            <a:avLst/>
          </a:prstGeom>
          <a:solidFill>
            <a:srgbClr val="3A3A50"/>
          </a:solidFill>
          <a:ln w="12700">
            <a:solidFill>
              <a:srgbClr val="3A3A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00016" y="2724912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TERORIZEM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718304" y="3108960"/>
            <a:ext cx="1956816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Ogroženost majhna, a realna. KBRJ napadi: kontaminacija, psihološki učinki.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839712" y="2724912"/>
            <a:ext cx="2103120" cy="1828800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39712" y="2724912"/>
            <a:ext cx="2103120" cy="329184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12864" y="2724912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POPLAVE · POŽARI · PLAZOVI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931152" y="3108960"/>
            <a:ext cx="1956816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Poškodbe zdravstvene infrastrukture imajo katastrofalne posledice.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8016" cy="60350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19456" y="0"/>
            <a:ext cx="8778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METHANE – standardno poročilo prve ekipe na kraju nesreče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4901184"/>
            <a:ext cx="713232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Usposabljanje gasilcev – Množične nesreče, predbolnišnična raven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406640" y="4901184"/>
            <a:ext cx="155448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2E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Smernice MZ RS, 2013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01168" y="694944"/>
            <a:ext cx="8741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Prva ekipa pošlje METHANE dispečerju / ReCO takoj po prihodu. Ta informacija sproži celotno reševalno verigo.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01168" y="1005840"/>
            <a:ext cx="8741664" cy="402336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1168" y="1005840"/>
            <a:ext cx="420624" cy="40233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1168" y="1005840"/>
            <a:ext cx="4206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76656" y="1042416"/>
            <a:ext cx="21579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incident (množična nesreča)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907792" y="1051560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Potrditev, da gre za množično nesrečo, in aktiviranje načrta ukrepanja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01168" y="1453896"/>
            <a:ext cx="8741664" cy="402336"/>
          </a:xfrm>
          <a:prstGeom prst="rect">
            <a:avLst/>
          </a:prstGeom>
          <a:solidFill>
            <a:srgbClr val="18203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" y="1453896"/>
            <a:ext cx="420624" cy="402336"/>
          </a:xfrm>
          <a:prstGeom prst="rect">
            <a:avLst/>
          </a:prstGeom>
          <a:solidFill>
            <a:srgbClr val="0F6B5A"/>
          </a:solidFill>
          <a:ln w="12700">
            <a:solidFill>
              <a:srgbClr val="0F6B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1168" y="1453896"/>
            <a:ext cx="4206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76656" y="1490472"/>
            <a:ext cx="21579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location (točen kraj)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907792" y="1499616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Natančen kraj – po možnosti GPS-koordinate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01168" y="1901952"/>
            <a:ext cx="8741664" cy="402336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1168" y="1901952"/>
            <a:ext cx="420624" cy="402336"/>
          </a:xfrm>
          <a:prstGeom prst="rect">
            <a:avLst/>
          </a:prstGeom>
          <a:solidFill>
            <a:srgbClr val="0F6B5A"/>
          </a:solidFill>
          <a:ln w="12700">
            <a:solidFill>
              <a:srgbClr val="0F6B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01168" y="1901952"/>
            <a:ext cx="4206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76656" y="1938528"/>
            <a:ext cx="21579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of incident (vrsta nesreče)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907792" y="1947672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Prometna, kemijska, železniška, letalska, eksplozija, požar ...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01168" y="2350008"/>
            <a:ext cx="8741664" cy="402336"/>
          </a:xfrm>
          <a:prstGeom prst="rect">
            <a:avLst/>
          </a:prstGeom>
          <a:solidFill>
            <a:srgbClr val="18203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1168" y="2350008"/>
            <a:ext cx="420624" cy="402336"/>
          </a:xfrm>
          <a:prstGeom prst="rect">
            <a:avLst/>
          </a:prstGeom>
          <a:solidFill>
            <a:srgbClr val="C17D0A"/>
          </a:solidFill>
          <a:ln w="12700">
            <a:solidFill>
              <a:srgbClr val="C17D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1168" y="2350008"/>
            <a:ext cx="4206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76656" y="2386584"/>
            <a:ext cx="21579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Hazards (nevarnosti)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907792" y="2395728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Prisotne in potencialne nevarnosti (nevarne snovi, dim, porušitve)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01168" y="2798064"/>
            <a:ext cx="8741664" cy="402336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1168" y="2798064"/>
            <a:ext cx="420624" cy="402336"/>
          </a:xfrm>
          <a:prstGeom prst="rect">
            <a:avLst/>
          </a:prstGeom>
          <a:solidFill>
            <a:srgbClr val="1A6A7A"/>
          </a:solidFill>
          <a:ln w="12700">
            <a:solidFill>
              <a:srgbClr val="1A6A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01168" y="2798064"/>
            <a:ext cx="4206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76656" y="2834640"/>
            <a:ext cx="21579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(dostop)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907792" y="2843784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Varne smeri pristopa. Ob sumu nevarnih snovi: višje, v zavetrju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01168" y="3246120"/>
            <a:ext cx="8741664" cy="402336"/>
          </a:xfrm>
          <a:prstGeom prst="rect">
            <a:avLst/>
          </a:prstGeom>
          <a:solidFill>
            <a:srgbClr val="18203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01168" y="3246120"/>
            <a:ext cx="420624" cy="40233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1168" y="3246120"/>
            <a:ext cx="4206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76656" y="3282696"/>
            <a:ext cx="21579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casualties (število žrtev)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2907792" y="3291840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Začetna ocena: poškodovani, oboleli, mrtvi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01168" y="3694176"/>
            <a:ext cx="8741664" cy="402336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1168" y="3694176"/>
            <a:ext cx="420624" cy="402336"/>
          </a:xfrm>
          <a:prstGeom prst="rect">
            <a:avLst/>
          </a:prstGeom>
          <a:solidFill>
            <a:srgbClr val="0F6B5A"/>
          </a:solidFill>
          <a:ln w="12700">
            <a:solidFill>
              <a:srgbClr val="0F6B5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1168" y="3694176"/>
            <a:ext cx="4206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76656" y="3730752"/>
            <a:ext cx="21579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 services (reševalne službe)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2907792" y="3739896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Katere službe so že prisotne in katere še potrebujemo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8016" cy="60350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19456" y="0"/>
            <a:ext cx="8778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Prihod na kraj – varnost in osebna varovalna oprema (OVO)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4901184"/>
            <a:ext cx="713232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Usposabljanje gasilcev – Množične nesreče, predbolnišnična raven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406640" y="4901184"/>
            <a:ext cx="155448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2E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Smernice MZ RS, 2013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01168" y="694944"/>
            <a:ext cx="8741664" cy="384048"/>
          </a:xfrm>
          <a:prstGeom prst="rect">
            <a:avLst/>
          </a:prstGeom>
          <a:solidFill>
            <a:srgbClr val="200808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" y="694944"/>
            <a:ext cx="8558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REŠEVALCI MORAJO VEDNO UPOŠTEVATI SPLOŠNA PRAVILA VARNEGA PRISTOPA NA KRAJ NESREČE!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01168" y="1152144"/>
            <a:ext cx="4261104" cy="292608"/>
          </a:xfrm>
          <a:prstGeom prst="rect">
            <a:avLst/>
          </a:prstGeom>
          <a:solidFill>
            <a:srgbClr val="0F6B5A"/>
          </a:solidFill>
          <a:ln w="12700">
            <a:solidFill>
              <a:srgbClr val="0F6B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52144"/>
            <a:ext cx="41513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SPLOŠNA VARNOSTNA PRAVILA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01168" y="1444752"/>
            <a:ext cx="4261104" cy="2706624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0896" y="1517904"/>
            <a:ext cx="404164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0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Vedno upoštevaj navodila vodje intervencije</a:t>
            </a:r>
            <a:endParaRPr lang="en-US" sz="105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0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Parkirati na ustrezni razdalji – zagotoviti krožni promet RV</a:t>
            </a:r>
            <a:endParaRPr lang="en-US" sz="105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0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 sumu nevarnih snovi: na višjem mestu, v zavetrju</a:t>
            </a:r>
            <a:endParaRPr lang="en-US" sz="105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0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vstopati na območje očitne nevarnosti (eksplozivi, požar)</a:t>
            </a:r>
            <a:endParaRPr lang="en-US" sz="105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0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vstopati na kontaminirano območje brez ustrezne zaščite</a:t>
            </a:r>
            <a:endParaRPr lang="en-US" sz="105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0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reševati brez pooblastila vodje in ustrezne opreme</a:t>
            </a:r>
            <a:endParaRPr lang="en-US" sz="105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0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VSE sumljive embalaže, pakete takoj sporoči vodji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81728" y="1152144"/>
            <a:ext cx="4261104" cy="292608"/>
          </a:xfrm>
          <a:prstGeom prst="rect">
            <a:avLst/>
          </a:prstGeom>
          <a:solidFill>
            <a:srgbClr val="C17D0A"/>
          </a:solidFill>
          <a:ln w="12700">
            <a:solidFill>
              <a:srgbClr val="C17D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1152144"/>
            <a:ext cx="41513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OSEBNA VAROVALNA OPREMA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81728" y="1444752"/>
            <a:ext cx="4261104" cy="1115568"/>
          </a:xfrm>
          <a:prstGeom prst="rect">
            <a:avLst/>
          </a:prstGeom>
          <a:solidFill>
            <a:srgbClr val="17100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91456" y="1481328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1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Standardna OVO (vse nesreče):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91456" y="1719072"/>
            <a:ext cx="40233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Zaščitna čelada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Zaščitna očala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Zaščitne rokavice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Odsevni jopič z OZNAKO FUNKCIJE (obvezno!)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81728" y="2633472"/>
            <a:ext cx="4261104" cy="1517904"/>
          </a:xfrm>
          <a:prstGeom prst="rect">
            <a:avLst/>
          </a:prstGeom>
          <a:solidFill>
            <a:srgbClr val="200808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670048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OVO pri kemijski nesreči: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791456" y="2907792"/>
            <a:ext cx="402336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Zaščitna obleka – stopnja A, B, C ali D glede na nevarnost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Samostojni dihalni aparat (SCBA)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 Smernicah za kemijske nesreče NMP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01168" y="4224528"/>
            <a:ext cx="8741664" cy="384048"/>
          </a:xfrm>
          <a:prstGeom prst="rect">
            <a:avLst/>
          </a:prstGeom>
          <a:solidFill>
            <a:srgbClr val="200808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0896" y="4224528"/>
            <a:ext cx="8558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Rešuje lahko LE pravilno usposobljeni in ustrezno opremljeni reševalec! Brez OVO = brez vstopa.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8016" cy="60350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19456" y="0"/>
            <a:ext cx="8778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Triaža – tri stopnje razvrščanja žrtev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4901184"/>
            <a:ext cx="713232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Usposabljanje gasilcev – Množične nesreče, predbolnišnična raven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406640" y="4901184"/>
            <a:ext cx="155448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2E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Smernice MZ RS, 2013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01168" y="694944"/>
            <a:ext cx="8741664" cy="530352"/>
          </a:xfrm>
          <a:prstGeom prst="rect">
            <a:avLst/>
          </a:prstGeom>
          <a:solidFill>
            <a:srgbClr val="1B3A5C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" y="694944"/>
            <a:ext cx="64008" cy="530352"/>
          </a:xfrm>
          <a:prstGeom prst="rect">
            <a:avLst/>
          </a:prstGeom>
          <a:solidFill>
            <a:srgbClr val="0F6B5A"/>
          </a:solidFill>
          <a:ln w="12700">
            <a:solidFill>
              <a:srgbClr val="0F6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713232"/>
            <a:ext cx="846734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TRIAŽA je nepretrgan proces razvrščanja žrtev in določanja prioritete oskrbe. Cilj: čim boljše stanje za čim večje število žrtev.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01168" y="1316736"/>
            <a:ext cx="8741664" cy="822960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1168" y="1316736"/>
            <a:ext cx="2414016" cy="822960"/>
          </a:xfrm>
          <a:prstGeom prst="rect">
            <a:avLst/>
          </a:prstGeom>
          <a:solidFill>
            <a:srgbClr val="0F6B5A"/>
          </a:solidFill>
          <a:ln w="12700">
            <a:solidFill>
              <a:srgbClr val="0F6B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9456" y="1316736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PRIMARNA TRIAŽA (TRIAŽA I)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724912" y="1371600"/>
            <a:ext cx="358444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kraju nesreče. Algoritem SIEVE. Največ 30 sekund na pacienta. Opravlja jo vodja primarne triaže.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364224" y="1389888"/>
            <a:ext cx="36576" cy="676656"/>
          </a:xfrm>
          <a:prstGeom prst="rect">
            <a:avLst/>
          </a:prstGeom>
          <a:solidFill>
            <a:srgbClr val="2E4A6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3952" y="1389888"/>
            <a:ext cx="23591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Kdaj: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73952" y="1591056"/>
            <a:ext cx="23591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Takoj po prihodu. Dovoljeno: zaustavljanje krvavitev + sprostitev dihalne poti.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01168" y="2267712"/>
            <a:ext cx="8741664" cy="822960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1168" y="2267712"/>
            <a:ext cx="2414016" cy="822960"/>
          </a:xfrm>
          <a:prstGeom prst="rect">
            <a:avLst/>
          </a:prstGeom>
          <a:solidFill>
            <a:srgbClr val="1A6A7A"/>
          </a:solidFill>
          <a:ln w="12700">
            <a:solidFill>
              <a:srgbClr val="1A6A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9456" y="2267712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SEKUNDARNA TRIAŽA (TRIAŽA II)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24912" y="2322576"/>
            <a:ext cx="358444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mestu zdravstvene oskrbe. Metoda SORT (3 fiziološki parametri). Izvajajo jo zdravniki.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364224" y="2340864"/>
            <a:ext cx="36576" cy="676656"/>
          </a:xfrm>
          <a:prstGeom prst="rect">
            <a:avLst/>
          </a:prstGeom>
          <a:solidFill>
            <a:srgbClr val="2E4A6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2340864"/>
            <a:ext cx="23591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Kdaj: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473952" y="2542032"/>
            <a:ext cx="23591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 pacienti prispejo na MZO. V zelenem sektorju jo lahko opravi izkušen reševalec.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01168" y="3218688"/>
            <a:ext cx="8741664" cy="822960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1168" y="3218688"/>
            <a:ext cx="2414016" cy="822960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19456" y="3218688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TRANSPORTNA TRIAŽA (TRIAŽA III)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724912" y="3273552"/>
            <a:ext cx="358444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 prevozom v bolnišnico. Upošteva oddaljenost in vrsto bolnišnice.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364224" y="3291840"/>
            <a:ext cx="36576" cy="676656"/>
          </a:xfrm>
          <a:prstGeom prst="rect">
            <a:avLst/>
          </a:prstGeom>
          <a:solidFill>
            <a:srgbClr val="2E4A6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73952" y="3291840"/>
            <a:ext cx="23591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Kdaj: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73952" y="3493008"/>
            <a:ext cx="23591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 nalaganjem v RV ali helikopter. Anatomska triaža je tu koristna.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8016" cy="60350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19456" y="0"/>
            <a:ext cx="8778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Primarna triaža – algoritem SIEVE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4901184"/>
            <a:ext cx="713232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Usposabljanje gasilcev – Množične nesreče, predbolnišnična raven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406640" y="4901184"/>
            <a:ext cx="155448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2E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Smernice MZ RS, 2013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01168" y="694944"/>
            <a:ext cx="8741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30 sekund na pacienta. Med izvajanjem dovoljeno samo: zaustavljanje hudih krvavitev + sprostitev dihalne poti.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01168" y="1024128"/>
            <a:ext cx="1883664" cy="42062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1168" y="1024128"/>
            <a:ext cx="188366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 hodi?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084832" y="1234440"/>
            <a:ext cx="493776" cy="36576"/>
          </a:xfrm>
          <a:prstGeom prst="rect">
            <a:avLst/>
          </a:prstGeom>
          <a:solidFill>
            <a:srgbClr val="2E4A6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03120" y="1042416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7A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670048" y="1024128"/>
            <a:ext cx="1883664" cy="420624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70048" y="1024128"/>
            <a:ext cx="188366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 ZELENA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(Odložena)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133856" y="1444752"/>
            <a:ext cx="36576" cy="329184"/>
          </a:xfrm>
          <a:prstGeom prst="rect">
            <a:avLst/>
          </a:prstGeom>
          <a:solidFill>
            <a:srgbClr val="2E4A6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07008" y="1499616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01168" y="1773936"/>
            <a:ext cx="1883664" cy="42062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1168" y="1773936"/>
            <a:ext cx="188366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 diha?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084832" y="1984248"/>
            <a:ext cx="493776" cy="36576"/>
          </a:xfrm>
          <a:prstGeom prst="rect">
            <a:avLst/>
          </a:prstGeom>
          <a:solidFill>
            <a:srgbClr val="2E4A6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03120" y="1792224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670048" y="1773936"/>
            <a:ext cx="1883664" cy="420624"/>
          </a:xfrm>
          <a:prstGeom prst="rect">
            <a:avLst/>
          </a:prstGeom>
          <a:solidFill>
            <a:srgbClr val="C17D0A"/>
          </a:solidFill>
          <a:ln w="12700">
            <a:solidFill>
              <a:srgbClr val="C17D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70048" y="1773936"/>
            <a:ext cx="188366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Sprosti dihalno pot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53712" y="1984248"/>
            <a:ext cx="402336" cy="36576"/>
          </a:xfrm>
          <a:prstGeom prst="rect">
            <a:avLst/>
          </a:prstGeom>
          <a:solidFill>
            <a:srgbClr val="2E4A6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47488" y="1773936"/>
            <a:ext cx="1883664" cy="420624"/>
          </a:xfrm>
          <a:prstGeom prst="rect">
            <a:avLst/>
          </a:prstGeom>
          <a:solidFill>
            <a:srgbClr val="2A3040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47488" y="1773936"/>
            <a:ext cx="188366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 ČRNA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(Mrtev)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133856" y="2194560"/>
            <a:ext cx="36576" cy="329184"/>
          </a:xfrm>
          <a:prstGeom prst="rect">
            <a:avLst/>
          </a:prstGeom>
          <a:solidFill>
            <a:srgbClr val="2E4A6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07008" y="2249424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7A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01168" y="2523744"/>
            <a:ext cx="1883664" cy="42062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01168" y="2523744"/>
            <a:ext cx="188366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Dih. frekvenca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11–29 / min?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084832" y="2734056"/>
            <a:ext cx="493776" cy="36576"/>
          </a:xfrm>
          <a:prstGeom prst="rect">
            <a:avLst/>
          </a:prstGeom>
          <a:solidFill>
            <a:srgbClr val="2E4A6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03120" y="2542032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670048" y="2523744"/>
            <a:ext cx="1883664" cy="42062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70048" y="2523744"/>
            <a:ext cx="188366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 RDEČA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(Takojšnja)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133856" y="2944368"/>
            <a:ext cx="36576" cy="329184"/>
          </a:xfrm>
          <a:prstGeom prst="rect">
            <a:avLst/>
          </a:prstGeom>
          <a:solidFill>
            <a:srgbClr val="2E4A6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207008" y="2999232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7A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01168" y="3273552"/>
            <a:ext cx="1883664" cy="42062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1168" y="3273552"/>
            <a:ext cx="188366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Pulz / kapilarna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polnitev &lt; 2 sek?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084832" y="3483864"/>
            <a:ext cx="493776" cy="36576"/>
          </a:xfrm>
          <a:prstGeom prst="rect">
            <a:avLst/>
          </a:prstGeom>
          <a:solidFill>
            <a:srgbClr val="2E4A6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03120" y="329184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7A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670048" y="3273552"/>
            <a:ext cx="1883664" cy="420624"/>
          </a:xfrm>
          <a:prstGeom prst="rect">
            <a:avLst/>
          </a:prstGeom>
          <a:solidFill>
            <a:srgbClr val="9A7A00"/>
          </a:solidFill>
          <a:ln w="12700">
            <a:solidFill>
              <a:srgbClr val="9A7A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70048" y="3273552"/>
            <a:ext cx="188366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 RUMENA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(Nujna)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553712" y="3483864"/>
            <a:ext cx="493776" cy="36576"/>
          </a:xfrm>
          <a:prstGeom prst="rect">
            <a:avLst/>
          </a:prstGeom>
          <a:solidFill>
            <a:srgbClr val="2E4A6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0" y="329184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138928" y="3273552"/>
            <a:ext cx="1883664" cy="42062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38928" y="3273552"/>
            <a:ext cx="188366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 RDEČA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(Takojšnja)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437376" y="1024128"/>
            <a:ext cx="2505456" cy="2670048"/>
          </a:xfrm>
          <a:prstGeom prst="rect">
            <a:avLst/>
          </a:prstGeom>
          <a:solidFill>
            <a:srgbClr val="17100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28816" y="1078992"/>
            <a:ext cx="23408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1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SIEVE: dovoljeno SAMO: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528816" y="1316736"/>
            <a:ext cx="234086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0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Zaustavljanje hudih krvavitev</a:t>
            </a:r>
            <a:endParaRPr lang="en-US" sz="1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0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Sprostitev dihalne poti (orofaringealni tubus)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528816" y="2139696"/>
            <a:ext cx="23408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ČAS NA PACIENTA: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528816" y="2340864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30 sek!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6528816" y="2670048"/>
            <a:ext cx="234086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Pokretni gredo sami v zeleni sektor – jih NE nosimo!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8016" cy="60350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19456" y="0"/>
            <a:ext cx="8778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Triažne kategorije – barve, prioritete in časi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4901184"/>
            <a:ext cx="713232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Usposabljanje gasilcev – Množične nesreče, predbolnišnična raven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406640" y="4901184"/>
            <a:ext cx="155448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2E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Smernice MZ RS, 2013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01168" y="731520"/>
            <a:ext cx="8741664" cy="658368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" y="731520"/>
            <a:ext cx="1024128" cy="6583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1168" y="749808"/>
            <a:ext cx="10241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01168" y="1078992"/>
            <a:ext cx="102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RDEČA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316736" y="76809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ŽIVLJENJSKO OGROŽEN – REŠLJIV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16736" y="104241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Hipoksija ali šok. Rešljiv ob pravočasni oskrbi.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69664" y="89611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Operacija v 2 urah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53328" y="822960"/>
            <a:ext cx="36576" cy="475488"/>
          </a:xfrm>
          <a:prstGeom prst="rect">
            <a:avLst/>
          </a:prstGeom>
          <a:solidFill>
            <a:srgbClr val="2E4A6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63056" y="896112"/>
            <a:ext cx="2615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Reanimacijski tim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01168" y="1481328"/>
            <a:ext cx="8741664" cy="658368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1168" y="1481328"/>
            <a:ext cx="1024128" cy="658368"/>
          </a:xfrm>
          <a:prstGeom prst="rect">
            <a:avLst/>
          </a:prstGeom>
          <a:solidFill>
            <a:srgbClr val="9A7A00"/>
          </a:solidFill>
          <a:ln w="12700">
            <a:solidFill>
              <a:srgbClr val="9A7A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1168" y="1499616"/>
            <a:ext cx="10241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01168" y="1828800"/>
            <a:ext cx="102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RUMENA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316736" y="1517904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NUJEN PACIENT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16736" y="17922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Dihanje zadovoljivo, ni šoka. Poškodbe ogrožajo življenje.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169664" y="1645920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Oskrba v 2–4 urah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53328" y="1572768"/>
            <a:ext cx="36576" cy="475488"/>
          </a:xfrm>
          <a:prstGeom prst="rect">
            <a:avLst/>
          </a:prstGeom>
          <a:solidFill>
            <a:srgbClr val="2E4A6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63056" y="1645920"/>
            <a:ext cx="2615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Rumeni sektor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01168" y="2231136"/>
            <a:ext cx="8741664" cy="658368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1168" y="2231136"/>
            <a:ext cx="1024128" cy="658368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1168" y="2249424"/>
            <a:ext cx="10241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01168" y="2578608"/>
            <a:ext cx="102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ZELENA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316736" y="226771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ODLOŽENA OSKRBA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316736" y="25420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Lokalizirane poškodbe brez hudih sistemskih učinkov.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39572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Varno do 4 ure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053328" y="2322576"/>
            <a:ext cx="36576" cy="475488"/>
          </a:xfrm>
          <a:prstGeom prst="rect">
            <a:avLst/>
          </a:prstGeom>
          <a:solidFill>
            <a:srgbClr val="2E4A6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63056" y="2395728"/>
            <a:ext cx="2615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Zeleni sektor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1168" y="2980944"/>
            <a:ext cx="8741664" cy="658368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1168" y="2980944"/>
            <a:ext cx="1024128" cy="658368"/>
          </a:xfrm>
          <a:prstGeom prst="rect">
            <a:avLst/>
          </a:prstGeom>
          <a:solidFill>
            <a:srgbClr val="2A3040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1168" y="2999232"/>
            <a:ext cx="10241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201168" y="3328416"/>
            <a:ext cx="102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ČRNA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316736" y="3017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UMIRAJOČ / MRTEV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316736" y="3291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diha niti po sprostitvi dihalne poti.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169664" y="314553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053328" y="3072384"/>
            <a:ext cx="36576" cy="475488"/>
          </a:xfrm>
          <a:prstGeom prst="rect">
            <a:avLst/>
          </a:prstGeom>
          <a:solidFill>
            <a:srgbClr val="2E4A6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63056" y="3145536"/>
            <a:ext cx="2615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Prostor za mrtve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01168" y="3730752"/>
            <a:ext cx="8741664" cy="658368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01168" y="3730752"/>
            <a:ext cx="1024128" cy="658368"/>
          </a:xfrm>
          <a:prstGeom prst="rect">
            <a:avLst/>
          </a:prstGeom>
          <a:solidFill>
            <a:srgbClr val="152A50"/>
          </a:solidFill>
          <a:ln w="12700">
            <a:solidFill>
              <a:srgbClr val="152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01168" y="3749040"/>
            <a:ext cx="10241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T4*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201168" y="4078224"/>
            <a:ext cx="102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MODRA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1316736" y="37673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MORE PREŽIVETI (negativna triaža)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316736" y="404164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Razglasi IZKLJUČNO vodja intervencije NMP po posvetu.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4169664" y="3895344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Oskrba se odtegne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053328" y="3822192"/>
            <a:ext cx="36576" cy="475488"/>
          </a:xfrm>
          <a:prstGeom prst="rect">
            <a:avLst/>
          </a:prstGeom>
          <a:solidFill>
            <a:srgbClr val="2E4A6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63056" y="3895344"/>
            <a:ext cx="2615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Poseben prostor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01168" y="4535424"/>
            <a:ext cx="8741664" cy="182880"/>
          </a:xfrm>
          <a:prstGeom prst="rect">
            <a:avLst/>
          </a:prstGeom>
          <a:solidFill>
            <a:srgbClr val="152A50"/>
          </a:solidFill>
          <a:ln w="12700">
            <a:solidFill>
              <a:srgbClr val="152A5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92608" y="4535424"/>
            <a:ext cx="84856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MODRA: Razglasi izključno vodja intervencije NMP. Gasilci te odločitve ne sprejemamo!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8016" cy="60350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19456" y="0"/>
            <a:ext cx="8778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Sekundarna triaža – metoda SORT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4901184"/>
            <a:ext cx="713232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Usposabljanje gasilcev – Množične nesreče, predbolnišnična raven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406640" y="4901184"/>
            <a:ext cx="155448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2E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Smernice MZ RS, 2013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01168" y="694944"/>
            <a:ext cx="8741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se izvaja na mestu zdravstvene oskrbe. 3 fiziološki parametri. Izvajajo ga zdravniki.</a:t>
            </a:r>
            <a:endParaRPr lang="en-US" sz="9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" y="1005840"/>
          <a:ext cx="4846320" cy="3493008"/>
        </p:xfrm>
        <a:graphic>
          <a:graphicData uri="http://schemas.openxmlformats.org/drawingml/2006/table">
            <a:tbl>
              <a:tblPr/>
              <a:tblGrid>
                <a:gridCol w="2322576"/>
                <a:gridCol w="1353312"/>
                <a:gridCol w="1170432"/>
              </a:tblGrid>
              <a:tr h="21831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VREDNOST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TOČKE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1831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Frekvenca dihanja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831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831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6–9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831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831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831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Sistolični krvni tlak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831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76–89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831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50–75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831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831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831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Glasgowska lestvica (GCS)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13–15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831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9–12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831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6–8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831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4–5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831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248656" y="1005840"/>
            <a:ext cx="3621024" cy="29260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21808" y="1005840"/>
            <a:ext cx="35112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REZULTAT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248656" y="1371600"/>
            <a:ext cx="3621024" cy="731520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248656" y="1371600"/>
            <a:ext cx="1316736" cy="7315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266944" y="137160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1–10 TOČK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656832" y="1591056"/>
            <a:ext cx="21214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 RDEČA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248656" y="2212848"/>
            <a:ext cx="3621024" cy="731520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248656" y="2212848"/>
            <a:ext cx="1316736" cy="731520"/>
          </a:xfrm>
          <a:prstGeom prst="rect">
            <a:avLst/>
          </a:prstGeom>
          <a:solidFill>
            <a:srgbClr val="9A7A00"/>
          </a:solidFill>
          <a:ln w="12700">
            <a:solidFill>
              <a:srgbClr val="9A7A0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266944" y="2212848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TOČK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656832" y="2432304"/>
            <a:ext cx="21214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7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 RUMENA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248656" y="3054096"/>
            <a:ext cx="3621024" cy="731520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248656" y="3054096"/>
            <a:ext cx="1316736" cy="731520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266944" y="3054096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TOČK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656832" y="3273552"/>
            <a:ext cx="21214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7A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 ZELENA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248656" y="4059936"/>
            <a:ext cx="3621024" cy="438912"/>
          </a:xfrm>
          <a:prstGeom prst="rect">
            <a:avLst/>
          </a:prstGeom>
          <a:solidFill>
            <a:srgbClr val="181200"/>
          </a:solidFill>
          <a:ln w="12700">
            <a:solidFill>
              <a:srgbClr val="C17D0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58384" y="4059936"/>
            <a:ext cx="34381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8A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Poleg SORT upoštevaj tudi anatomsko triažo!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8016" cy="60350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19456" y="0"/>
            <a:ext cx="8778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Vodenje ob množični nesreči – ključne funkcije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4901184"/>
            <a:ext cx="713232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Usposabljanje gasilcev – Množične nesreče, predbolnišnična raven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406640" y="4901184"/>
            <a:ext cx="155448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2E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Smernice MZ RS, 2013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01168" y="731520"/>
            <a:ext cx="2816352" cy="2926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3152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VODJA INTERVENCIJE NMP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01168" y="1024128"/>
            <a:ext cx="2816352" cy="1627632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0896" y="1097280"/>
            <a:ext cx="2615184" cy="148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Zdravnik iz prve ekipe NMP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Razglasi množično nesrečo, pošlje METHANE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Sestavlja vodstvo z gasilskim in policijskim vodjem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Razdeli in usklajuje naloge vseh zdravstvenih funkcij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Edini razglaša modro triažno kategorijo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182112" y="731520"/>
            <a:ext cx="2816352" cy="292608"/>
          </a:xfrm>
          <a:prstGeom prst="rect">
            <a:avLst/>
          </a:prstGeom>
          <a:solidFill>
            <a:srgbClr val="0F6B5A"/>
          </a:solidFill>
          <a:ln w="12700">
            <a:solidFill>
              <a:srgbClr val="0F6B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55264" y="73152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VODJA PRIMARNE TRIAŽE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182112" y="1024128"/>
            <a:ext cx="2816352" cy="1627632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0" y="1097280"/>
            <a:ext cx="2615184" cy="148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Reševalec iz prve ekipe NMP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Preveri dostop z gasilci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Izvaja triažo SIEVE, označuje paciente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Vodi evidenco ponesrečencev po kategorijah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Poroča vodji NMP vsakih 10–15 minut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3056" y="731520"/>
            <a:ext cx="2816352" cy="292608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36208" y="73152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KOORDINATOR PREVOZOV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163056" y="1024128"/>
            <a:ext cx="2816352" cy="1627632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72784" y="1097280"/>
            <a:ext cx="2615184" cy="148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Voznik prve ekipe NMP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Določi prometni koridor RV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Pridobi podatke o prostih zmogljivostih bolnišnic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Skrbi: pravi pacient → pravo vozilo → prava bolnišnica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Vodi evidenco prevozov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01168" y="2724912"/>
            <a:ext cx="2816352" cy="292608"/>
          </a:xfrm>
          <a:prstGeom prst="rect">
            <a:avLst/>
          </a:prstGeom>
          <a:solidFill>
            <a:srgbClr val="1A6A7A"/>
          </a:solidFill>
          <a:ln w="12700">
            <a:solidFill>
              <a:srgbClr val="1A6A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2724912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VODJA ZDRAVSTVENE OSKRBE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01168" y="3017520"/>
            <a:ext cx="2816352" cy="1627632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0896" y="3090672"/>
            <a:ext cx="2615184" cy="148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Zdravnik druge ekipe NMP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Sekundarna triaža in oskrba najnujnejših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Organizira sektorje (rdeči, rumeni, zeleni)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Usklajuje pretok pacientov skozi MZO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Skrbi za počitek in obremenjenost osebja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182112" y="2724912"/>
            <a:ext cx="2816352" cy="292608"/>
          </a:xfrm>
          <a:prstGeom prst="rect">
            <a:avLst/>
          </a:prstGeom>
          <a:solidFill>
            <a:srgbClr val="C17D0A"/>
          </a:solidFill>
          <a:ln w="12700">
            <a:solidFill>
              <a:srgbClr val="C17D0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55264" y="2724912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VODJA LOGISTIKE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182112" y="3017520"/>
            <a:ext cx="2816352" cy="1627632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3090672"/>
            <a:ext cx="2615184" cy="148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Voznik tretje ekipe NMP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Zbira in izdaja material ter opremo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Upravlja prikolico za množične nesreče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Vodi seznam prevzete in oddane opreme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163056" y="2724912"/>
            <a:ext cx="2816352" cy="292608"/>
          </a:xfrm>
          <a:prstGeom prst="rect">
            <a:avLst/>
          </a:prstGeom>
          <a:solidFill>
            <a:srgbClr val="2E4A6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36208" y="2724912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PROMETNIK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163056" y="3017520"/>
            <a:ext cx="2816352" cy="1627632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72784" y="3090672"/>
            <a:ext cx="2615184" cy="148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Vodja zbirnega mesta za RV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Skrbi za red na območju zbirnega mesta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Vodi evidenco ekip in vozil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Sporoča podatke koordinatorju prevozov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8016" cy="60350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19456" y="0"/>
            <a:ext cx="8778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Prevozi in helikopterska nujna medicinska pomoč (HNMP)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4901184"/>
            <a:ext cx="713232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Usposabljanje gasilcev – Množične nesreče, predbolnišnična raven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406640" y="4901184"/>
            <a:ext cx="155448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2E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Smernice MZ RS, 2013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01168" y="694944"/>
            <a:ext cx="4261104" cy="292608"/>
          </a:xfrm>
          <a:prstGeom prst="rect">
            <a:avLst/>
          </a:prstGeom>
          <a:solidFill>
            <a:srgbClr val="0F6B5A"/>
          </a:solidFill>
          <a:ln w="12700">
            <a:solidFill>
              <a:srgbClr val="0F6B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694944"/>
            <a:ext cx="41513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ORGANIZACIJA PREVOZOV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01168" y="987552"/>
            <a:ext cx="4261104" cy="2249424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0896" y="1060704"/>
            <a:ext cx="4041648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0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nujno RV = oskrba 2 težjih + 2 lažjih pacientov</a:t>
            </a:r>
            <a:endParaRPr lang="en-US" sz="10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0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nenujno RV = 1 težji + 1 lažji pacient</a:t>
            </a:r>
            <a:endParaRPr lang="en-US" sz="10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0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Krožni prometni sistem RV (dostop → parkiranje → odvoz)</a:t>
            </a:r>
            <a:endParaRPr lang="en-US" sz="10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0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Vrstni red: poškodbe, nujnost operacije, vrsta vozila, ciljna bolnišnica</a:t>
            </a:r>
            <a:endParaRPr lang="en-US" sz="10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0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Sekundarni prevozi med bolnišnicami za razbremenitev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81728" y="694944"/>
            <a:ext cx="4261104" cy="29260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694944"/>
            <a:ext cx="41513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HELIKOPTERSKA NMP – HNMP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81728" y="987552"/>
            <a:ext cx="4261104" cy="457200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81728" y="987552"/>
            <a:ext cx="64008" cy="457200"/>
          </a:xfrm>
          <a:prstGeom prst="rect">
            <a:avLst/>
          </a:prstGeom>
          <a:solidFill>
            <a:srgbClr val="0F6B5A"/>
          </a:solidFill>
          <a:ln w="12700">
            <a:solidFill>
              <a:srgbClr val="0F6B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8032" y="1024128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HNMP – Brnik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28032" y="1225296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Celo leto · vidni del dneva · ~10 min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81728" y="1517904"/>
            <a:ext cx="4261104" cy="457200"/>
          </a:xfrm>
          <a:prstGeom prst="rect">
            <a:avLst/>
          </a:prstGeom>
          <a:solidFill>
            <a:srgbClr val="18203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1517904"/>
            <a:ext cx="64008" cy="457200"/>
          </a:xfrm>
          <a:prstGeom prst="rect">
            <a:avLst/>
          </a:prstGeom>
          <a:solidFill>
            <a:srgbClr val="0F6B5A"/>
          </a:solidFill>
          <a:ln w="12700">
            <a:solidFill>
              <a:srgbClr val="0F6B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28032" y="1554480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GRZS – Brnik (jun–okt)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28032" y="1755648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Vidni del dneva · ~15 min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81728" y="2048256"/>
            <a:ext cx="4261104" cy="457200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81728" y="2048256"/>
            <a:ext cx="64008" cy="457200"/>
          </a:xfrm>
          <a:prstGeom prst="rect">
            <a:avLst/>
          </a:prstGeom>
          <a:solidFill>
            <a:srgbClr val="0F6B5A"/>
          </a:solidFill>
          <a:ln w="12700">
            <a:solidFill>
              <a:srgbClr val="0F6B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8032" y="2084832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GRZS – zunaj dežurstva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28032" y="2286000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Aktivacijski čas ~1 ura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81728" y="2615184"/>
            <a:ext cx="4261104" cy="1536192"/>
          </a:xfrm>
          <a:prstGeom prst="rect">
            <a:avLst/>
          </a:prstGeom>
          <a:solidFill>
            <a:srgbClr val="152535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91456" y="2688336"/>
            <a:ext cx="4041648" cy="1389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0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Aktivira: vodja intervencije ali vodja NMP prek ReCO</a:t>
            </a:r>
            <a:endParaRPr lang="en-US" sz="1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0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 aktivaciji sporoči: kontakti zdravnika, vrsta nesreče, število poškodovanih, nevarnosti, kraj, vreme, komunikacijska frekvenca, mesto pristanka</a:t>
            </a:r>
            <a:endParaRPr lang="en-US" sz="1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0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 daljšem reševanju: preveri možnost helikopterja SV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01168" y="4224528"/>
            <a:ext cx="8741664" cy="402336"/>
          </a:xfrm>
          <a:prstGeom prst="rect">
            <a:avLst/>
          </a:prstGeom>
          <a:solidFill>
            <a:srgbClr val="181200"/>
          </a:solidFill>
          <a:ln w="12700">
            <a:solidFill>
              <a:srgbClr val="C17D0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0896" y="4224528"/>
            <a:ext cx="85587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8A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Aktiviranje HNMP mora biti PRAVOČASNO. Helikopter prepelje huje poškodovane v oddaljene bolnišnice.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146304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KVIZ – preveri svoje znanje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256032" y="402336"/>
            <a:ext cx="8503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Vprašanja 1–4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56032" y="841248"/>
            <a:ext cx="8631936" cy="841248"/>
          </a:xfrm>
          <a:prstGeom prst="rect">
            <a:avLst/>
          </a:prstGeom>
          <a:solidFill>
            <a:srgbClr val="18203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896112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Kaj je kratica METHANE?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84048" y="1207008"/>
            <a:ext cx="219456" cy="310896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207008"/>
            <a:ext cx="2194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1225296"/>
            <a:ext cx="8101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7FE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Standardno poročilo prve ekipe: Major incident, Exact location, Type, Hazards, Access, Number, Emergency services.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6032" y="1810512"/>
            <a:ext cx="8631936" cy="841248"/>
          </a:xfrm>
          <a:prstGeom prst="rect">
            <a:avLst/>
          </a:prstGeom>
          <a:solidFill>
            <a:srgbClr val="18203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1865376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Katero OVO moramo imeti gasilci ob vsaki množični nesreči?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84048" y="2176272"/>
            <a:ext cx="219456" cy="310896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176272"/>
            <a:ext cx="2194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194560"/>
            <a:ext cx="8101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7FE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Zaščitna čelada, zaščitna očala, rokavice in odsevni jopič z oznako funkcije. Ob kemijski nesreči: zaščitna obleka + SCBA.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56032" y="2779776"/>
            <a:ext cx="8631936" cy="841248"/>
          </a:xfrm>
          <a:prstGeom prst="rect">
            <a:avLst/>
          </a:prstGeom>
          <a:solidFill>
            <a:srgbClr val="18203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2834640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Koliko sekund je na voljo za oceno enega pacienta pri SIEVE?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84048" y="3145536"/>
            <a:ext cx="219456" cy="310896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3145536"/>
            <a:ext cx="2194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8368" y="3163824"/>
            <a:ext cx="8101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7FE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Največ 30 sekund. Dovoljeno samo: zaustavljanje krvavitve in sprostitev dihalne poti.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56032" y="3749040"/>
            <a:ext cx="8631936" cy="841248"/>
          </a:xfrm>
          <a:prstGeom prst="rect">
            <a:avLst/>
          </a:prstGeom>
          <a:solidFill>
            <a:srgbClr val="18203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" y="3803904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Kdo in kako aktivira helikopter NMP (HNMP)?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84048" y="4114800"/>
            <a:ext cx="219456" cy="310896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4114800"/>
            <a:ext cx="2194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" y="4133088"/>
            <a:ext cx="8101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7FE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Vodja intervencije ali vodja NMP – prek ReCO. Aktiviranje mora biti PRAVOČASNO!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146304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KVIZ – preveri svoje znanje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256032" y="402336"/>
            <a:ext cx="8503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Vprašanja 5–8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56032" y="841248"/>
            <a:ext cx="8631936" cy="841248"/>
          </a:xfrm>
          <a:prstGeom prst="rect">
            <a:avLst/>
          </a:prstGeom>
          <a:solidFill>
            <a:srgbClr val="18203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896112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Kaj pomeni triažna kategorija T1 RDEČA?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84048" y="1207008"/>
            <a:ext cx="219456" cy="310896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207008"/>
            <a:ext cx="2194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1225296"/>
            <a:ext cx="8101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7FE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Življenjsko ogrožen pacient, ki je rešljiv ob ustrezni in pravočasni oskrbi. Operacija mora biti v 2 urah.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6032" y="1810512"/>
            <a:ext cx="8631936" cy="841248"/>
          </a:xfrm>
          <a:prstGeom prst="rect">
            <a:avLst/>
          </a:prstGeom>
          <a:solidFill>
            <a:srgbClr val="18203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1865376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Kdaj se sme premakniti truplo s kraja nesreče?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84048" y="2176272"/>
            <a:ext cx="219456" cy="310896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176272"/>
            <a:ext cx="2194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194560"/>
            <a:ext cx="8101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7FE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Šele po soglasju preiskovalnih organov in sodnoizvedencev. Zdravnik potrdi smrt. Predmeti ostanejo pri truplu.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56032" y="2779776"/>
            <a:ext cx="8631936" cy="841248"/>
          </a:xfrm>
          <a:prstGeom prst="rect">
            <a:avLst/>
          </a:prstGeom>
          <a:solidFill>
            <a:srgbClr val="18203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2834640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Kateri 3 parametri sestavljajo sekundarno triažo SORT?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84048" y="3145536"/>
            <a:ext cx="219456" cy="310896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3145536"/>
            <a:ext cx="2194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8368" y="3163824"/>
            <a:ext cx="8101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7FE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Frekvenca dihanja, (2) Sistolični krvni tlak, (3) Glasgowska lestvica nezavesti (GCS). Seštevek 1–10=T1, 11=T2, 12=T3.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56032" y="3749040"/>
            <a:ext cx="8631936" cy="841248"/>
          </a:xfrm>
          <a:prstGeom prst="rect">
            <a:avLst/>
          </a:prstGeom>
          <a:solidFill>
            <a:srgbClr val="18203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" y="3803904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Kateri so sestavni deli transportnega koridorja?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84048" y="4114800"/>
            <a:ext cx="219456" cy="310896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4114800"/>
            <a:ext cx="2194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" y="4133088"/>
            <a:ext cx="8101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7FE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Dostopna pot → zbirno mesto za RV → mesto za odvoz pacientov → odvozna pot → pristajališče za helikopter.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18288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7A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KLJUČNE TOČKE ZA VSAK GASILEC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256032" y="45720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Predbolnišnična raven – povzetek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56032" y="950976"/>
            <a:ext cx="4242816" cy="768096"/>
          </a:xfrm>
          <a:prstGeom prst="rect">
            <a:avLst/>
          </a:prstGeom>
          <a:solidFill>
            <a:srgbClr val="18203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950976"/>
            <a:ext cx="64008" cy="768096"/>
          </a:xfrm>
          <a:prstGeom prst="rect">
            <a:avLst/>
          </a:prstGeom>
          <a:solidFill>
            <a:srgbClr val="0F6B5A"/>
          </a:solidFill>
          <a:ln w="12700">
            <a:solidFill>
              <a:srgbClr val="0F6B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024128"/>
            <a:ext cx="4023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6B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042416"/>
            <a:ext cx="351129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Množična nesreča ≠ katastrofa. Katastrofa je obseg, ki ga v doglednem času ni mogoče obvladati (npr. rušilni potres).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00016" y="950976"/>
            <a:ext cx="4242816" cy="768096"/>
          </a:xfrm>
          <a:prstGeom prst="rect">
            <a:avLst/>
          </a:prstGeom>
          <a:solidFill>
            <a:srgbClr val="18203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00016" y="950976"/>
            <a:ext cx="64008" cy="768096"/>
          </a:xfrm>
          <a:prstGeom prst="rect">
            <a:avLst/>
          </a:prstGeom>
          <a:solidFill>
            <a:srgbClr val="0F6B5A"/>
          </a:solidFill>
          <a:ln w="12700">
            <a:solidFill>
              <a:srgbClr val="0F6B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024128"/>
            <a:ext cx="4023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6B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358384" y="1042416"/>
            <a:ext cx="351129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METHANE – standard poročanja. Vsaka črka je obvezna informacija. Brez METHANE reševalna veriga ne deluje.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56032" y="1828800"/>
            <a:ext cx="4242816" cy="768096"/>
          </a:xfrm>
          <a:prstGeom prst="rect">
            <a:avLst/>
          </a:prstGeom>
          <a:solidFill>
            <a:srgbClr val="18203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828800"/>
            <a:ext cx="64008" cy="768096"/>
          </a:xfrm>
          <a:prstGeom prst="rect">
            <a:avLst/>
          </a:prstGeom>
          <a:solidFill>
            <a:srgbClr val="0F6B5A"/>
          </a:solidFill>
          <a:ln w="12700">
            <a:solidFill>
              <a:srgbClr val="0F6B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" y="1901952"/>
            <a:ext cx="4023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6B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1920240"/>
            <a:ext cx="351129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Gasilci evakuiramo paciente iz vroče cone in jih predamo NMP ekipi na zbirnem mestu za triažo.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00016" y="1828800"/>
            <a:ext cx="4242816" cy="768096"/>
          </a:xfrm>
          <a:prstGeom prst="rect">
            <a:avLst/>
          </a:prstGeom>
          <a:solidFill>
            <a:srgbClr val="18203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00016" y="1828800"/>
            <a:ext cx="64008" cy="768096"/>
          </a:xfrm>
          <a:prstGeom prst="rect">
            <a:avLst/>
          </a:prstGeom>
          <a:solidFill>
            <a:srgbClr val="0F6B5A"/>
          </a:solidFill>
          <a:ln w="12700">
            <a:solidFill>
              <a:srgbClr val="0F6B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1901952"/>
            <a:ext cx="4023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6B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358384" y="1920240"/>
            <a:ext cx="351129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SIEVE = primarna triaža (max 30 sek/pacient). Dovoljeno samo: zaustavljanje krvavitev + sprostitev dihalne poti.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56032" y="2706624"/>
            <a:ext cx="4242816" cy="768096"/>
          </a:xfrm>
          <a:prstGeom prst="rect">
            <a:avLst/>
          </a:prstGeom>
          <a:solidFill>
            <a:srgbClr val="18203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6032" y="2706624"/>
            <a:ext cx="64008" cy="768096"/>
          </a:xfrm>
          <a:prstGeom prst="rect">
            <a:avLst/>
          </a:prstGeom>
          <a:solidFill>
            <a:srgbClr val="C17D0A"/>
          </a:solidFill>
          <a:ln w="12700">
            <a:solidFill>
              <a:srgbClr val="C17D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0624" y="2779776"/>
            <a:ext cx="4023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1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" y="2798064"/>
            <a:ext cx="351129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 Rdeča, T2 Rumena, T3 Zelena, T4 Črna, T4* Modra. Barve moramo znati. Modro razglaša IZKLJUČNO vodja NMP.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700016" y="2706624"/>
            <a:ext cx="4242816" cy="768096"/>
          </a:xfrm>
          <a:prstGeom prst="rect">
            <a:avLst/>
          </a:prstGeom>
          <a:solidFill>
            <a:srgbClr val="18203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00016" y="2706624"/>
            <a:ext cx="64008" cy="768096"/>
          </a:xfrm>
          <a:prstGeom prst="rect">
            <a:avLst/>
          </a:prstGeom>
          <a:solidFill>
            <a:srgbClr val="C17D0A"/>
          </a:solidFill>
          <a:ln w="12700">
            <a:solidFill>
              <a:srgbClr val="C17D0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64608" y="2779776"/>
            <a:ext cx="4023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1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358384" y="2798064"/>
            <a:ext cx="351129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Triažni karton ostane pri pacientu ves čas. Pri truplu se ne odnese karton, dokumenti ali predmeti.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56032" y="3584448"/>
            <a:ext cx="4242816" cy="768096"/>
          </a:xfrm>
          <a:prstGeom prst="rect">
            <a:avLst/>
          </a:prstGeom>
          <a:solidFill>
            <a:srgbClr val="18203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6032" y="3584448"/>
            <a:ext cx="64008" cy="768096"/>
          </a:xfrm>
          <a:prstGeom prst="rect">
            <a:avLst/>
          </a:prstGeom>
          <a:solidFill>
            <a:srgbClr val="C17D0A"/>
          </a:solidFill>
          <a:ln w="12700">
            <a:solidFill>
              <a:srgbClr val="C17D0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0624" y="3657600"/>
            <a:ext cx="4023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1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14400" y="3675888"/>
            <a:ext cx="351129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Vodja intervencije NMP + vodja gasilske intervencije + vodja policijske intervencije = vodstvo intervencije.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700016" y="3584448"/>
            <a:ext cx="4242816" cy="768096"/>
          </a:xfrm>
          <a:prstGeom prst="rect">
            <a:avLst/>
          </a:prstGeom>
          <a:solidFill>
            <a:srgbClr val="182030"/>
          </a:solidFill>
          <a:ln w="12700">
            <a:solidFill>
              <a:srgbClr val="2E4A6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00016" y="3584448"/>
            <a:ext cx="64008" cy="768096"/>
          </a:xfrm>
          <a:prstGeom prst="rect">
            <a:avLst/>
          </a:prstGeom>
          <a:solidFill>
            <a:srgbClr val="C17D0A"/>
          </a:solidFill>
          <a:ln w="12700">
            <a:solidFill>
              <a:srgbClr val="C17D0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64608" y="3657600"/>
            <a:ext cx="4023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1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358384" y="3675888"/>
            <a:ext cx="351129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OVO je obvezna preden vstopimo na nevarno območje. Ob sumu kemijske nesreče: OVO namestiti že med vožnjo!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2026-05-26T08:53:14Z</dcterms:created>
  <dcterms:modified xsi:type="dcterms:W3CDTF">2026-05-26T08:53:14Z</dcterms:modified>
</cp:coreProperties>
</file>