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87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BDC3C7"/>
                </a:solidFill>
              </a:rPr>
              <a:t>MNOŽIČNE NESREČE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Predbolnišnična raven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&amp; vloga gasilcev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2286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DC3C7"/>
                </a:solidFill>
              </a:rPr>
              <a:t>Gradivo temelji na Smernicah za delovanje sistema NMP ob množičnih nesrečah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DC3C7"/>
                </a:solidFill>
              </a:rPr>
              <a:t>Ministrstvo za zdravje RS – Ljubljana, 2013 (strani 0–50)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Kaj je množična nesreča – osnovna definicija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84048" y="886968"/>
            <a:ext cx="8394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MNOŽIČNA NESREČA je vsak nenaden, nepričakovan dogodek z večjim številom poškodovanih ali nenadno obolelih, ki ga ne moremo obvladati z rednimi oziroma v trenutku nesreče razpoložljivimi zmogljivostmi.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160520" cy="2697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91440" cy="2697480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MNOŽIČNA NESREČA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176272"/>
            <a:ext cx="3931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Obseg, ki ga ne moremo obvladati z rednimi zmogljivostmi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Možno jo je obvladati v doglednem času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Aktivira se načrt za množične nesreče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Primer: huda prometna nesreča, rušenje stavbe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206240" cy="269748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91440" cy="2697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828032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KATASTROFA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176272"/>
            <a:ext cx="3977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Obseg, ki ga v doglednem času NI mogoče obvladati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Primer: rušilni potres, obsežna poplava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Aktivira se širši načrt za izredne razmere</a:t>
            </a:r>
            <a:endParaRPr lang="en-US" sz="11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Vključuje ukrepe za celoten zavod (energija, evakuacija ...)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553712"/>
            <a:ext cx="8595360" cy="256032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384048" y="4553712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Ključno: Načrt za množične nesreče morajo poznati VSI zaposleni. Ukrepe je treba redno preverjati z vajami!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Vrste nesreč z večjim številom ponesrečenih v Sloveniji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28600" y="896112"/>
            <a:ext cx="20116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01752" y="9326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POTRES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" y="129844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</a:rPr>
              <a:t>Nevarnost v VIII.–XII. stopnji 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01752" y="155448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~1/3 prebivalcev ogroženih, 21 % površine. Ob nočnem ali dopoldanskem potresu so žrtve neizogibne. Sledijo požari, eksplozije, epidemije.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41448" y="89611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2441448" y="896112"/>
            <a:ext cx="20116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514600" y="9326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CESTNI PROMET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129844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</a:rPr>
              <a:t>Verižne trčitve, nesreče v predorih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155448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Visoka stopnja ogroženosti. Vplivajo: vreme, dostopnost, obremenjenost ceste. V 2001–2010 povpr. 32.000 nesreč letno.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54296" y="89611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654296" y="896112"/>
            <a:ext cx="2011680" cy="3840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727448" y="9326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ŽELEZNICA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27448" y="129844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68910"/>
                </a:solidFill>
              </a:rPr>
              <a:t>Trčenje, iztirjenje, požar, eksplozija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27448" y="155448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Povpr. 90 potnikov na vlak. Ob trku potniškega vlaka pričakujemo veliko mrtvih, poškodovanih in ujetih.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67144" y="89611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6867144" y="896112"/>
            <a:ext cx="201168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940296" y="93268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LETALSKA NESREČA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0296" y="129844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</a:rPr>
              <a:t>85 % nesreč pri vzletih in pristankih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0296" y="155448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Ogroženi: letališča Ljubljana, Maribor, Portorož, Cerklje ob Krki. Možni padci na naselja, požari, nevarne snovi.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86207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228600" y="2862072"/>
            <a:ext cx="2011680" cy="384048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301752" y="2898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NEVARNE SNOVI (KBRJ)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" y="326440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5580"/>
                </a:solidFill>
              </a:rPr>
              <a:t>Kemijske, biološke, jedrske, radiološke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1752" y="352044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Prevoz in industrijski obrati. NEK Krško: polmer 10 km. Biološko orožje: možno prek vode, hrane, aerosolov.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41448" y="286207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2441448" y="2862072"/>
            <a:ext cx="2011680" cy="38404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2514600" y="2898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EPIDEMIJE / PANDEMIJE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14600" y="326440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8F77"/>
                </a:solidFill>
              </a:rPr>
              <a:t>Nalezljive bolezni, zoonoze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14600" y="352044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Naravne nesreče pogosto sprožijo izbruh nalezljivih bolezni. Širjenje med nezadostno imunimi prebivalci.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54296" y="286207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4654296" y="2862072"/>
            <a:ext cx="201168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4727448" y="2898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TERORIZEM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27448" y="326440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5C"/>
                </a:solidFill>
              </a:rPr>
              <a:t>Ogroženost majhna, a realna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27448" y="352044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Klasična sredstva → mnogo mrtvih in poškodovanih. KBRJ napadi: kontaminacija, radiacijska bolezen, psihološki učinki.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67144" y="2862072"/>
            <a:ext cx="2011680" cy="17830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Shape 42"/>
          <p:cNvSpPr/>
          <p:nvPr/>
        </p:nvSpPr>
        <p:spPr>
          <a:xfrm>
            <a:off x="6867144" y="2862072"/>
            <a:ext cx="201168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6940296" y="2898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POPLAVE / POŽARI / PLAZOVI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40296" y="326440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8449"/>
                </a:solidFill>
              </a:rPr>
              <a:t>Lokalni in regijski vir ogroženosti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40296" y="3520440"/>
            <a:ext cx="19019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3E50"/>
                </a:solidFill>
              </a:rPr>
              <a:t>Poškodbe zdravstvene infrastrukture imajo katastrofalne posledice. Gasilci smo pogosto prva linija odziva.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Pravne podlage in nosilci načrtovanja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PRAVNE PODLAGE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14800" cy="67665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91440" cy="67665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38912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Zakon o državni upravi (UL RS 113/05)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16. člen: Minister sprejema odločitve in predpise s področja ministrstva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41148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74320" y="2029968"/>
            <a:ext cx="91440" cy="67665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38912" y="2066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Zakon o varstvu pred naravnimi nesrečami (UL RS 51/06, 97/10)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100. člen: Ministrstvo odgovarja za ukrepe preprečevanja in pripravljenost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4114800" cy="67665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91440" cy="67665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38912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Uredba o vsebini in izdelavi načrtov ZiR (UL RS 24/12)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11. člen: Ministrstva morajo izdelati načrte dejavnosti za vse ravni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529584"/>
            <a:ext cx="41148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91440" cy="67665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38912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38. člen ZVNDN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803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Javni zdravstveni zavodi morajo izdelati načrt zaščite in reševanja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66344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NOSILCI NAČRTOVANJA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280160"/>
            <a:ext cx="42062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663440" y="1280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BOLNIŠNIČNA RAVEN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1591056"/>
            <a:ext cx="4206240" cy="12618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54880" y="166420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Splošne bolnišnice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Oba univerzitetna klinična centra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Specialne bolnišnice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Vsi zavodi za delovanje v izrednih razmerah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944368"/>
            <a:ext cx="4206240" cy="31089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663440" y="29443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PREDBOLNIŠNIČNA RAVEN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255264"/>
            <a:ext cx="4206240" cy="12618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754880" y="3328416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Javni zdravstveni zavodi s SNMP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Enote A in A2 pristojni enoti SNMP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Vsaka enota naredi lasten načrt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Načrt mora biti dostopen vsem zaposlenim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384048" y="4553712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Načrt mora biti VEDNO dostopen v ambulanti NMP in na reševalni postaji. Preveriti ga je treba vsaj enkrat letno!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Komuniciranje ob množičnih nesrečah – temeljna načela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84048" y="886968"/>
            <a:ext cx="83941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NAČELO: »MANJ JE BOLJE« — Komuniciraj samo kadar je res nujno. Sporočilo mora biti kratko in vsebovati le bistvene podatke.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74320" y="16276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VRSTE KOMUNICIRANJA OB MNOŽIČNI NESREČI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8412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Interno / medoddelčno komuniciranje (znotraj bolnišnice)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Komuniciranje v predbolnišnični NMP med ekipami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Komuniciranje med ekipami NMP in bolnišnico ter med bolnišnicami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Komuniciranje med intervencijskimi službami (gasilci, policija, NMP)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Komuniciranje v sistemu vodenja (vertikalno in horizontalno)</a:t>
            </a:r>
            <a:endParaRPr lang="en-US" sz="11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Komuniciranje z javnostjo in mediji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859536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274320" y="3429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KONCEPT DELOVANJA ZVEZ – kaj mora načrt vsebovati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822192"/>
            <a:ext cx="205740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3858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Osnovne informacijske potrebe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178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Status ekip NMP, zmogljivosti, podatki o pacientih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3822192"/>
            <a:ext cx="205740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560320" y="3858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Komunikacijske poti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4178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Vertikalna in horizontalna komunikacijska pot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822192"/>
            <a:ext cx="205740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754880" y="3858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Komunikacijski protokol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178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Dogovorjen način izmenjave podatkov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3822192"/>
            <a:ext cx="2057400" cy="8961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949440" y="3858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</a:rPr>
              <a:t>Protokol ob izpadu zvez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49440" y="417880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Rezervno orodje, nedelovanje, popoln izpad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METHANE – standardno poročilo prve ekipe na kraju nesreče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Prva ekipa pošlje METHANE dispečerju / ReCO takoj po prihodu. Ta informacija sproži celotno reševalno verigo.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44168"/>
            <a:ext cx="8595360" cy="420624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274320" y="1344168"/>
            <a:ext cx="47548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74320" y="134416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380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Major incident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(množična nesreča)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38988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Potrditev, da gre za množično nesrečo, in aktiviranje načrta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8595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475488" cy="42062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74320" y="181051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Exact location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(točen kraj)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185623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Natančen kraj – po možnosti GPS-koordinate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76856"/>
            <a:ext cx="8595360" cy="420624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274320" y="2276856"/>
            <a:ext cx="475488" cy="42062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74320" y="227685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2313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Type of incident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(vrsta nesreče)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3225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Prometna, kemijska, železniška, letalska, eksplozija, požar 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8595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475488" cy="420624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74320" y="274320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27797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Hazards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(nevarnosti)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278892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Prisotne in potencialne nevarnosti (nevarne snovi, dim, porušitve)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209544"/>
            <a:ext cx="8595360" cy="420624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274320" y="3209544"/>
            <a:ext cx="475488" cy="42062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274320" y="320954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2960" y="3246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Access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(dostop)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325526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Varne smeri pristopa. Ob sumu nevarnih snovi: višje, v zavetrju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675888"/>
            <a:ext cx="8595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274320" y="3675888"/>
            <a:ext cx="47548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274320" y="367588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Number of casualties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(število žrtev)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372160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Začetna ocena: poškodovani, oboleli, mrtvi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142232"/>
            <a:ext cx="8595360" cy="420624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>
            <a:off x="274320" y="4142232"/>
            <a:ext cx="475488" cy="42062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274320" y="414223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22960" y="4178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Emergency services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(reševalne službe)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41879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Katere službe so že prisotne in katere še potrebujemo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Komunikacijske poti in vloga dispečerja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1148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HIERARHIJA KOMUNICIRANJA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1480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91440" cy="80467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38912" y="13350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5580"/>
                </a:solidFill>
              </a:rPr>
              <a:t>VERTIKALNA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093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Vodja intervencije NMP ↔ Koordinator prevozov ↔ Vodja primarne triaže ↔ Vodja zdravstvene oskrbe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76272"/>
            <a:ext cx="411480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91440" cy="8046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38912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8F77"/>
                </a:solidFill>
              </a:rPr>
              <a:t>HORIZONTALNA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50545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Med ekipami NMP, z gasilci, policijo, bolnišnico in ReCO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072384"/>
            <a:ext cx="411480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274320" y="3072384"/>
            <a:ext cx="91440" cy="8046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38912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8910"/>
                </a:solidFill>
              </a:rPr>
              <a:t>REZERVA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0156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Ob izpadu zvez komuniciranje prek ReCO (regijskega centra za obveščanje)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2062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663440" y="8686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VLOGA DISPEČERJA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28016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Sprejme klic in oceni, ali gre za množično nesrečo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Pošlje 1. ekipo NMP s kompletom za množične nesreče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Zbira dodatne informacije med vožnjo ekipe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Obvesti ReCO, sosednje enote NMP, glavno sprejemno bolnišnico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Aktivira prikolico za množične nesreče po navodilu vodje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Sporoči ekipam delovni UKV-kanal za komuniciranje na kraju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Vodi evidenco prevozov (Priloga 2)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84048" y="4407408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Kadar prva ekipa NMP nima lastnega dispečerja, njegove naloge prevzame dispečer nadrejene enote NMP (praviloma PHE enota).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Načrt delovanja ekipe NMP – kaj mora vsebovati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Vsaka predbolnišnična ekipa NMP mora imeti lasten načrt za množične nesreče. Načrt se preizkusi najprej s štabno, nato s terensko vajo.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75488" cy="57607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4630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Kdaj se načrt aktivira (prag aktivacije)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709160" y="1371600"/>
            <a:ext cx="475488" cy="57607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709160" y="1371600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4630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Poti obveščanja znotraj enote NMP in z zunanjimi službami (ažurirane telefonske številke)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39112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274320" y="2039112"/>
            <a:ext cx="475488" cy="57607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74320" y="2039112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21305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Predvideno aktiviranje sosednjih enot NMP (vrstni red, telefonske številke)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039112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709160" y="2039112"/>
            <a:ext cx="475488" cy="57607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09160" y="2039112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1305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Vsebina in lokacija kompletov za vodilne funkcije (vodja intervencije, triažni vodja, koordinator prevozov)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706624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274320" y="2706624"/>
            <a:ext cx="475488" cy="5760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274320" y="2706624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27980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Vsebina dodatne opreme 1. in 2. ekipe (zdravila, infuzije, UKV, oznake delovišč)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2706624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4709160" y="2706624"/>
            <a:ext cx="475488" cy="5760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09160" y="2706624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27980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Kdaj se aktivira prikolica za množične nesreče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374136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274320" y="3374136"/>
            <a:ext cx="475488" cy="5760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274320" y="3374136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34655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Opomniki METHANE, SIEVE, SORT, anatomska triaža za vodilne in vse člane NMP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374136"/>
            <a:ext cx="4251960" cy="5760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4709160" y="3374136"/>
            <a:ext cx="475488" cy="5760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709160" y="3374136"/>
            <a:ext cx="4754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57800" y="34655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</a:rPr>
              <a:t>Vsi potrebni obrazci za evidentiranje (prevozi, ponesrečenci, oprema, ekipe)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384048" y="4553712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Načrt mora biti nameščen in stalno dostopen v ambulanti NMP ter na reševalni postaji. Vsi zaposleni morajo vedeti, kje je.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Sprejem klica in aktivnosti na poti do kraja nesreče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96112"/>
            <a:ext cx="4114800" cy="32918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8961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Sprejem klica – na kaj biti pozoren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411480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1298448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Ali kateri koli podatek nakazuje množično nesrečo?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Vrsta nesreče, natančen kraj, možni dostopi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Ocena števila in starosti pacientov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Vrsta in intenzivnost poškodb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Ocena števila mrtvih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Morebitne dodatne nevarnosti (požar, eksplozija, plaz)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 sumu nevarnih snovi: način izpostavljenosti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206240" cy="329184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663440" y="8961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Aktivnosti na poti na kraj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25296"/>
            <a:ext cx="4206240" cy="324612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773168" y="1298448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Obvestiti dispečerja o vseh novih podatkih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1. ekipa vzame s seboj komplet za množične nesreče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Komplet vsebuje: oprema za vodilne funkcije + UKV postaje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 sumu kemijske nesreče: namestiti OVO že med vožnjo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Zbirati informacije o kraju in dostopih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Neprekinjeno komunicirati z dispečerjem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4553712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Dispečer ob sumu množične nesreče najprej obvesti 1. ekipo NMP – ta gre na kraj, ostale ekipe se aktivirajo po načrtu.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Prihod na kraj – varnost in osebna varovalna oprema (OVO)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8595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5760" y="8869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REŠEVALCI MORAJO VEDNO UPOŠTEVATI SPLOŠNA PRAVILA VARNEGA PRISTOPA NA KRAJ NESREČE!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SPLOŠNA VARNOSTNA PRAVILA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4114800" cy="27432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84048" y="1828800"/>
            <a:ext cx="393192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Vedno upoštevaj navodila vodje intervencije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Parkirati na ustrezni razdalji – zagotoviti krožni promet RV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 sumu nevarnih snovi: parkirati na višjem mestu, v zavetrju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NE vstopati na območje očitne nevarnosti (eksplozivi, rušenje, požar)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NE vstopati na kontaminirano območje brez ustrezne zaščite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NE reševati brez pooblastila vodje intervencije in ustrezne opreme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VSE sumljive embalaže, pakete, zabojnike takoj sporoči vodji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35608"/>
            <a:ext cx="420624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663440" y="14356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OSEBNA VAROVALNA OPREMA (OVO)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64792"/>
            <a:ext cx="4206240" cy="1234440"/>
          </a:xfrm>
          <a:prstGeom prst="rect">
            <a:avLst/>
          </a:prstGeom>
          <a:solidFill>
            <a:srgbClr val="FEF9E7"/>
          </a:solidFill>
          <a:ln w="9525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773168" y="180136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8910"/>
                </a:solidFill>
              </a:rPr>
              <a:t>Standardna OVO za vse ekipe: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2048256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Zaščitna čelada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Zaščitna očala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Zaščitne rokavice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Odsevni jopič z OZNAKO FUNKCIJE (obvezno!)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4206240" cy="1435608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773168" y="310896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OVO pri kemijski nesreči: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3346704"/>
            <a:ext cx="40050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Zaščitna obleka – stopnja A, B, C ali D glede na nevarnost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Samostojni dihalni aparat (SCBA)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Po Smernicah za kemijske nesreče NMP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solidFill>
            <a:srgbClr val="FDEDEC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84048" y="4553712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0392B"/>
                </a:solidFill>
              </a:rPr>
              <a:t>Rešuje lahko LE pravilno usposobljeni in ustrezno opremljeni reševalec! Brez OVO = brez vstopa na nevarno območje.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Prva ekipa na kraju množične nesreče – naloge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84048" y="9966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384048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978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Zapiši točen čas prihoda in poskrbi za lastno varnost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Čas prihoda je ključen za kasnejšo analizo intervencije in dokumentacijo.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886968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4818888" y="9966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18888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67528" y="9784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Pošlji poročilo METHANE dispečerju / ReCO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67528" y="141732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Hitra ocena: narava in obseg nesreče, klic dodatne pomoči, obvestilo vsem relevantnim službam.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148840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84048" y="2258568"/>
            <a:ext cx="457200" cy="457200"/>
          </a:xfrm>
          <a:prstGeom prst="ellipse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8404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Vzpostavi 3 ključne funkcije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267919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Vodja intervencije NMP • Vodja primarne triaže • Koordinator prevozov. Vsak dobi jopič z oznako funkcije!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818888" y="2258568"/>
            <a:ext cx="457200" cy="457200"/>
          </a:xfrm>
          <a:prstGeom prst="ellipse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81888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67528" y="22402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Organiziraj postavitev mesta zdravstvene oskrbe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67528" y="267919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Zbirno mesto pacientov • Zbirno mesto nepoškodovanih • Transportni koridor • Mesto za helikopter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410712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384048" y="3520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38404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2688" y="35021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Pripravi prevoze pacientov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394106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Dostopna pot, odvozna pot, pristajališče za helikopter – dogovor z gasilci in policisti.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3410712"/>
            <a:ext cx="4251960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4818888" y="35204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81888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67528" y="350215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52F"/>
                </a:solidFill>
              </a:rPr>
              <a:t>Vzpostavi stik z vodji gasilcev in policije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67528" y="394106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D6D7E"/>
                </a:solidFill>
              </a:rPr>
              <a:t>Skupaj določijo meje con, evakuacijske poti, mesto RV in zbirno mesto nepoškodovanih.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553712"/>
            <a:ext cx="8595360" cy="237744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384048" y="4553712"/>
            <a:ext cx="843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Če sta v prvi ekipi samo 2 člana: koordinator prevozov se vzpostavi šele po prihodu naslednje ekipe!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Organizacija mesta zdravstvene oskrbe na kraju nesreče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Cilj: čim manjša izpostavljenost reševalcev, čim boljša dostopnost za paciente, logičen pretok od triaže do prevoza.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1031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VROČA / RDEČA CONA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(izvor nesreče)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210312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47472" y="192024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Samo gasilci z ustrezno OVO. Ekipe NMP tu NE vstopamo!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87168" y="1325880"/>
            <a:ext cx="2286000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2487168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TOPLA / RUMENA CONA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(triaža + oskrba)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87168" y="1874520"/>
            <a:ext cx="228600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2560320" y="192024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Primarna triaža, osnovna oskrba. Ekipe NMP tu delamo.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82896" y="1325880"/>
            <a:ext cx="2103120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82896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HLADNA / ZELENA CONA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(zdravstvena oskrba)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82896" y="1874520"/>
            <a:ext cx="210312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956048" y="192024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Sekundarna triaža, napredna oskrba, prevoz v bolnišnico.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95744" y="1325880"/>
            <a:ext cx="1737360" cy="548640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7095744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TRANSPORTNI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KORIDOR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95744" y="1874520"/>
            <a:ext cx="173736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7168896" y="192024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RV, helikopter, prevoz.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8595360" cy="310896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74320" y="28346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SESTAVNI DELI MESTA (DELOVIŠČA) ZDRAVSTVENE OSKRBE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218688"/>
            <a:ext cx="8412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Zbirno mesto za paciente (primarna triaža) – T1, T2, T3, T4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Zbirno mesto za nepoškodovane – policisti + reševalec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Transportni koridor: dostopna pot → zbirno mesto RV → mesto za prevoz pacientov → odvozna pot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Pristajališče za helikopter – po dogovoru z gasilci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Skladišče materiala in opreme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Mesto vodstva intervencije – koordinacijska točka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</a:rPr>
              <a:t>Rdeči, rumeni in zeleni sektor (pri večjem številu pacientov)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Triaža – kaj je in zakaj je ključna pri množičnih nesrečah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859536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84048" y="905256"/>
            <a:ext cx="8394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TRIAŽA je nepretrgan proces razvrščanja žrtev, določanja prioritete oskrbe in razporeditve glede na potrebe po nujni medicinski pomoči, nujnem prevozu in končni oskrbi. Cilj: čim boljše stanje za čim večje število žrtev.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95360" cy="85953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560320" cy="859536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92608" y="1664208"/>
            <a:ext cx="2523744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PRIMARNA TRIAŽA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(TRIAŽA 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1719072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Na kraju nesreče ali na zbirnem mestu. Algoritem SIEVE. Največ 30 sekund na pacienta. Opravlja jo vodja primarne triaže.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719072"/>
            <a:ext cx="36576" cy="7498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583680" y="17190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6D7E"/>
                </a:solidFill>
              </a:rPr>
              <a:t>Kdaj: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190195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Takoj po prihodu. Dovoljeno samo: zaustavljanje hudih krvavitev + sprostitev dihalne poti.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24328"/>
            <a:ext cx="8595360" cy="85953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274320" y="2624328"/>
            <a:ext cx="2560320" cy="85953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92608" y="2624328"/>
            <a:ext cx="2523744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SEKUNDARNA TRIAŽA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(TRIAŽA II – RETRIAŽA)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4368" y="2679192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Na mestu zdravstvene oskrbe. Metoda SORT (3 fiziološki parametri). Izvajajo jo zdravniki. Hkrati se začne začetna oskrba.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2679192"/>
            <a:ext cx="36576" cy="7498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583680" y="26791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6D7E"/>
                </a:solidFill>
              </a:rPr>
              <a:t>Kdaj: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0" y="286207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Ko pacienti prispejo na MZO. V zelenem sektorju jo lahko opravi izkušen reševalec.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8595360" cy="85953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274320" y="3584448"/>
            <a:ext cx="2560320" cy="8595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92608" y="3584448"/>
            <a:ext cx="2523744" cy="85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TRANSPORTNA TRIAŽA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(TRIAŽA III)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44368" y="3639312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</a:rPr>
              <a:t>Pred prevozom v bolnišnico. Upošteva oddaljenost in vrsto bolnišnice. Pri daljšem čakanju retriaža.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3639312"/>
            <a:ext cx="36576" cy="7498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6583680" y="36393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D6D7E"/>
                </a:solidFill>
              </a:rPr>
              <a:t>Kdaj: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83680" y="382219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D7E"/>
                </a:solidFill>
              </a:rPr>
              <a:t>Pred nalaganjem v RV ali helikopter. Anatomska triaža je tu zelo koristna.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Primarna triaža – algoritem SIEVE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Enostaven fiziološki algoritem. Vsak ocenjen pacient dobi triažni karton z barvno oznako. Med izvajanjem samo: zaustavljanje krvavitve + sprostitev dihalne poti.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2011680" cy="475488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Ali hodi?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572768"/>
            <a:ext cx="54864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304288" y="13898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1353312"/>
            <a:ext cx="201168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2926080" y="1353312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T3 ZELENA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(Odložena)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0160" y="1828800"/>
            <a:ext cx="36576" cy="347472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1371600" y="18653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2011680" cy="475488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274320" y="2176272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Ali diha?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2404872"/>
            <a:ext cx="54864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2304288" y="22128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176272"/>
            <a:ext cx="2011680" cy="47548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2926080" y="2176272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Sprosti dihalno pot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404872"/>
            <a:ext cx="45720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5486400" y="2176272"/>
            <a:ext cx="2011680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5486400" y="2176272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T4 ČRNA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(Mrtev)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80160" y="2651760"/>
            <a:ext cx="36576" cy="32918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1371600" y="26883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DA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80944"/>
            <a:ext cx="2011680" cy="475488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274320" y="2980944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Dih. frekvenca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11–29 / min?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3218688"/>
            <a:ext cx="54864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2304288" y="30175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26080" y="2980944"/>
            <a:ext cx="20116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2926080" y="2980944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T1 RDEČA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(Takojšnja)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80160" y="3456432"/>
            <a:ext cx="36576" cy="33832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1371600" y="35112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794760"/>
            <a:ext cx="2011680" cy="475488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27432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Pulz / kapil.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polnitev &lt; 2 sek?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86000" y="4032504"/>
            <a:ext cx="54864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2304288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DA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3794760"/>
            <a:ext cx="2011680" cy="4754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292608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T2 RUMENA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(Nujna)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4032504"/>
            <a:ext cx="548640" cy="36576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4956048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NE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77840" y="3794760"/>
            <a:ext cx="20116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557784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T1 RDEČA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(Takojšnja)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1353312"/>
            <a:ext cx="2423160" cy="2971800"/>
          </a:xfrm>
          <a:prstGeom prst="rect">
            <a:avLst/>
          </a:prstGeom>
          <a:solidFill>
            <a:srgbClr val="FEF9E7"/>
          </a:solidFill>
          <a:ln w="9525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65379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8910"/>
                </a:solidFill>
              </a:rPr>
              <a:t>Med SIEVE je dovoljeno SAMO: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37960" y="1700784"/>
            <a:ext cx="22677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Zaustavljanje hudih krvavitev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Sprostitev dihalne poti (orofaringealni tubus)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37960" y="279806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</a:rPr>
              <a:t>Čas na pacienta: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3017520"/>
            <a:ext cx="2267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</a:rPr>
              <a:t>MAX 30 sekund!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37960" y="3401568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Pokretni gredo sami v zeleni sektor – jih NE nosimo!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Triažne kategorije – barve, prioritete in časi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8595360" cy="6675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1097280" cy="6675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274320" y="941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1261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RDEČA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63040" y="950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ŽIVLJENJSKO OGROŽEN – REŠLJIV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Hipoksija ali šok. Pacient je rešljiv ob ustrezni in pravočasni oskrbi.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1078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Operacija v 2 urah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987552"/>
            <a:ext cx="36576" cy="5212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537960" y="10789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Reanimacijski tim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664208"/>
            <a:ext cx="8595360" cy="6675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274320" y="1664208"/>
            <a:ext cx="1097280" cy="6675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7432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320" y="2011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RUMENA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NUJEN PACIENT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1984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Poškodbe / bolezni ogrožajo življenje, toda dihanje je zadovoljivo in ni šoka.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43400" y="18288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Oskrba v 2–4 urah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1737360"/>
            <a:ext cx="36576" cy="5212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6537960" y="1828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Rumeni sektor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414016"/>
            <a:ext cx="8595360" cy="6675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274320" y="2414016"/>
            <a:ext cx="1097280" cy="6675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274320" y="2441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7432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ZELENA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6304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ODLOŽENA OSKRBA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63040" y="2734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Lokalizirane poškodbe brez hudih sistemskih učinkov. Pacienti čakajo.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2578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Varno do 4 ure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46520" y="2487168"/>
            <a:ext cx="36576" cy="5212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537960" y="25786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Zeleni sektor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163824"/>
            <a:ext cx="8595360" cy="6675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274320" y="3163824"/>
            <a:ext cx="1097280" cy="66751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274320" y="31912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74320" y="3511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ČRNA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630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UMIRAJOČ / MRTEV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463040" y="3483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Ne diha niti po sprostitvi dihalne poti. Klinično brez srčne akcije.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3328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46520" y="3236976"/>
            <a:ext cx="36576" cy="5212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6537960" y="33284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Prostor za mrtve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913632"/>
            <a:ext cx="8595360" cy="6675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>
            <a:off x="274320" y="3913632"/>
            <a:ext cx="1097280" cy="6675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274320" y="39410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T4*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74320" y="4261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MODRA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4630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52F"/>
                </a:solidFill>
              </a:rPr>
              <a:t>NE MORE PREŽIVETI (negativna triaža)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63040" y="4233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Razglasi IZKLJUČNO vodja intervencije NMP po posvetu. Le ob katastrofalnih razmerah!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43400" y="4078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Oskrba se odtegne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46520" y="3986784"/>
            <a:ext cx="36576" cy="521208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6537960" y="4078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Poseben prostor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* MODRA: Razglasi izključno vodja intervencije NMP po posvetu z vodjo MZO in nadzornim zdravnikom bolnišnice. Gasilci te odločitve ne sprejemamo!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Sekundarna triaža – metoda SORT (fiziološki parametri)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SORT se izvaja na mestu zdravstvene oskrbe. Temelji na 3 fizioloških parametrih. Izvajajo ga zdravniki – gasilci moramo razumeti pomen rezultatov.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506066"/>
              </p:ext>
            </p:extLst>
          </p:nvPr>
        </p:nvGraphicFramePr>
        <p:xfrm>
          <a:off x="274320" y="1353312"/>
          <a:ext cx="4937760" cy="345500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FIZIOLOŠKI PARAMETER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VREDNOST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TOČKE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Frekvenca dihanja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10–29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&gt; 29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6–9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1–5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Sistolični krvni tlak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&gt; 90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76–89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50–75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1–49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Glasgowska lestvica nezavesti (GCS)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13–15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9–12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6–8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4–5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8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32120" y="1353312"/>
            <a:ext cx="333756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5532120" y="13533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REZULTAT SEŠTEVKA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1755648"/>
            <a:ext cx="3337560" cy="73152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0"/>
          <p:cNvSpPr/>
          <p:nvPr/>
        </p:nvSpPr>
        <p:spPr>
          <a:xfrm>
            <a:off x="5532120" y="1755648"/>
            <a:ext cx="137160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1"/>
          <p:cNvSpPr/>
          <p:nvPr/>
        </p:nvSpPr>
        <p:spPr>
          <a:xfrm>
            <a:off x="5550408" y="1755648"/>
            <a:ext cx="13350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1–10 TOČK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18105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</a:rPr>
              <a:t>T1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5160" y="20848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RDEČA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Takojšnja oskrba</a:t>
            </a:r>
            <a:endParaRPr lang="en-US" sz="1000" dirty="0"/>
          </a:p>
        </p:txBody>
      </p:sp>
      <p:sp>
        <p:nvSpPr>
          <p:cNvPr id="9" name="Shape 14"/>
          <p:cNvSpPr/>
          <p:nvPr/>
        </p:nvSpPr>
        <p:spPr>
          <a:xfrm>
            <a:off x="5532120" y="2578608"/>
            <a:ext cx="3337560" cy="73152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5"/>
          <p:cNvSpPr/>
          <p:nvPr/>
        </p:nvSpPr>
        <p:spPr>
          <a:xfrm>
            <a:off x="5532120" y="2578608"/>
            <a:ext cx="1371600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6"/>
          <p:cNvSpPr/>
          <p:nvPr/>
        </p:nvSpPr>
        <p:spPr>
          <a:xfrm>
            <a:off x="5550408" y="2578608"/>
            <a:ext cx="13350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 TOČK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95160" y="26334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227"/>
                </a:solidFill>
              </a:rPr>
              <a:t>T2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995160" y="290779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RUMENA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Nujna oskrba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3401568"/>
            <a:ext cx="3337560" cy="73152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0"/>
          <p:cNvSpPr/>
          <p:nvPr/>
        </p:nvSpPr>
        <p:spPr>
          <a:xfrm>
            <a:off x="5532120" y="3401568"/>
            <a:ext cx="137160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1"/>
          <p:cNvSpPr/>
          <p:nvPr/>
        </p:nvSpPr>
        <p:spPr>
          <a:xfrm>
            <a:off x="5550408" y="3401568"/>
            <a:ext cx="13350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 TOČK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95160" y="34564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</a:rPr>
              <a:t>T3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95160" y="373075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ZELENA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2C3E50"/>
                </a:solidFill>
              </a:rPr>
              <a:t>Odložena oskrba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32120" y="4251960"/>
            <a:ext cx="3337560" cy="548640"/>
          </a:xfrm>
          <a:prstGeom prst="rect">
            <a:avLst/>
          </a:prstGeom>
          <a:solidFill>
            <a:srgbClr val="FEF9E7"/>
          </a:solidFill>
          <a:ln w="9525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5"/>
          <p:cNvSpPr/>
          <p:nvPr/>
        </p:nvSpPr>
        <p:spPr>
          <a:xfrm>
            <a:off x="5623560" y="4279392"/>
            <a:ext cx="3154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Poleg SORT morajo izkušeni zdravniki upoštevati tudi ANATOMSKO triažo – vrsto in težo poškodb!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Začetna zdravstvena oskrba na kraju nesreče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8595360" cy="4754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84048" y="905256"/>
            <a:ext cx="8394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CILJ: S čim manjšimi sredstvi čim hitreje pacienta stabilizirati za prevoz in tako čim več pacientom omogočiti čim kakovostnejše preživetje.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41148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74320" y="14630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Vrstni red oskrbe (po prioriteti)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4114800" cy="113385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84048" y="186537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1. T1 RDEČA: vitalni posegi za rešitev življenja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2. T2 RUMENA: nujna oskrba (sočasno, če je osebja dovolj)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3. T3 ZELENA: odložena oskrba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4114800" cy="32918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274320" y="30358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Ključni posegi začetne oskrbe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64992"/>
            <a:ext cx="4114800" cy="1133856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84048" y="343814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Zaustavitev krvavitev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Zaščita dihalne poti in vratne hrbtenice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Aplikacija kisika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Vzpostavitev IV ali IO poti + nadomeščanje tekočin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Nujna analgezija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2062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POSEBNOSTI PRI MNOŽIČNIH NESREČAH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792224"/>
            <a:ext cx="4206240" cy="299923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773168" y="1865376"/>
            <a:ext cx="402336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Dolgotrajna oskrba ENEGA pacienta = odtegnitev oskrbe DRUGEMU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Medicinski posegi se prilagodijo (alternativni pripomočki za dihalno pot, prednostna IO pot)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Invazivni postopki SAMO na mestu zdravstvene oskrbe – ne na kraju nesreče (razen izjem)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Prevoz se začne takoj, ko je zagotovljena nujna oskrba in je na voljo RV s spremljevalcem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 zadostnem osebju je možen neposreden prevoz huje poškodovanih direktno v bolnišnico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Vodenje ob množični nesreči – ključne funkcije in naloge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56032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INTERVENCIJE NMP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1316736"/>
            <a:ext cx="2542032" cy="1255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Zdravnik iz prve ekipe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Razglasi množično nesrečo, pošlje METHANE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Sestavlja vodstvo z gasilskim in policijskim vodjem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Razdeli in usklajuje naloge vseh zdravstvenih funkcij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Ima pregled nad številom ekip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Edini razglaša modro triažno kategorijo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2743200" cy="32918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3218688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PRIMARNE TRIAŽE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243584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328416" y="1316736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Reševalec iz prve ekipe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Preveri dostop z gasilci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Izvaja triažo SIEVE, označuje paciente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Vodi evidenco ponesrečencev po kategorijah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Poroča vodji NMP vsakih 10–15 minut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81344" y="914400"/>
            <a:ext cx="274320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181344" y="914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KOORDINATOR PREVOZOV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243584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291072" y="1316736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Voznik prve ekipe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Določi prometni koridor RV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Pridobi podatke o prostih zmogljivostih bolnišnic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Skrbi: pravi pacient → pravo vozilo → prava bolnišnica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Vodi evidenco prevozov pacientov in vozil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2743200" cy="32918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56032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ZDRAVSTVENE OSKRBE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200400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365760" y="3273552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Zdravnik druge ekipe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Sekundarna triaža in oskrba najnujnejših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Organizira sektorje (rdeči, rumeni, zeleni)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Usklajuje pretok pacientov skozi MZO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Skrbi za počitek in obremenjenost osebja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18688" y="2871216"/>
            <a:ext cx="2743200" cy="329184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3218688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LOGISTIKE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3200400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328416" y="3273552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Voznik tretje ekipe NMP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Zbira in izdaja material ter opremo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Upravlja prikolico za množične nesreče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Vodi seznam prevzete in oddane opreme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81344" y="2871216"/>
            <a:ext cx="27432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6181344" y="2871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PROMETNIK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81344" y="3200400"/>
            <a:ext cx="2743200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291072" y="3273552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Vodja zbirnega mesta za RV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Skrbi za red na območju zbirnega mesta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Vodi evidenco ekip in vozil</a:t>
            </a:r>
            <a:endParaRPr lang="en-US" sz="8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800" dirty="0">
                <a:solidFill>
                  <a:srgbClr val="2C3E50"/>
                </a:solidFill>
              </a:rPr>
              <a:t>Sporoča podatke koordinatorju prevozov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Prevozi in helikopterska nujna medicinska pomoč (HNMP)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41148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886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ORGANIZACIJA PREVOZOV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16152"/>
            <a:ext cx="4114800" cy="2212848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84048" y="1289304"/>
            <a:ext cx="393192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Reševalna vozila, zrakoplovi ali plovila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1 nujno RV = oskrba 2 težjih + 2 lažjih pacientov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1 nenujno RV = 1 težji + 1 lažji pacient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Krožni prometni sistem RV (dostop → parkiranje → odvoz)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Vrstni red: poškodbe, nujnost operacije, vrsta vozila, ciljna bolnišnica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Sekundarni prevozi med bolnišnicami za razbremenitev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886968"/>
            <a:ext cx="4206240" cy="329184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663440" y="8869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HELIKOPTERSKA NMP – HNMP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16152"/>
            <a:ext cx="4206240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663440" y="1216152"/>
            <a:ext cx="91440" cy="457200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828032" y="12527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HNMP – Brnik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453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Celo leto, vidni del dneva, aktivacijski čas ~10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746504"/>
            <a:ext cx="4206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4663440" y="1746504"/>
            <a:ext cx="91440" cy="457200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828032" y="17830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GRZS – Brnik (junij–oktober)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19842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Vidni del dneva, aktivacijski čas ~15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76856"/>
            <a:ext cx="4206240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4663440" y="2276856"/>
            <a:ext cx="91440" cy="457200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828032" y="23134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GRZS – zunaj dežurstva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514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Aktivacijski čas ~1 ura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807208"/>
            <a:ext cx="4206240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773168" y="2880360"/>
            <a:ext cx="402336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Aktivacija: vodja intervencije ali vodja NMP prek ReCO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Ob aktivaciji sporoči: kontakti zdravnika, vrsta nesreče, število poškodovanih, nevarnosti, kraj, vreme, komunikacijska frekvenca, mesto pristanka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</a:rPr>
              <a:t>Pri daljšem reševanju: preveri možnost helikopterja SV ali HNMP iz tujine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544568"/>
            <a:ext cx="8595360" cy="246888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384048" y="4544568"/>
            <a:ext cx="84307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Aktiviranje HNMP mora biti PRAVOČASNO. Helikopter hkrati prepelje težko poškodovane in lažje poškodovane v oddaljene bolnišnice.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Dokumentacija in oprema za množične nesreče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3152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Usposabljanje gasilcev – Množične nesreče, predbolnišnična raven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0" y="4828032"/>
            <a:ext cx="1645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D7E"/>
                </a:solidFill>
              </a:rPr>
              <a:t>Smernice MZ RS, 2013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86968"/>
            <a:ext cx="4114800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74320" y="8869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OBVEZNA DOKUMENTACIJA NMP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1480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274320" y="128016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38912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Sprejem nujnih intervencij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1517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Evidenca vseh prejetih klicev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38912" y="1819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Protokol nujne intervencije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8912" y="202082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Opis ukrepov na terenu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411480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38912" y="2322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Protokol predbolnišničnega oživljanja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25237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Pri srčnem zastoju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38912" y="2825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Karton poškodovanca / triažni karton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3026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Mora biti pri pacientu ves čas!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91840"/>
            <a:ext cx="4114800" cy="43891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274320" y="329184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38912" y="33284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Poročilo o reševalnem prevozu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35295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Za vsak prevoz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91440" cy="43891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38912" y="3831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52F"/>
                </a:solidFill>
              </a:rPr>
              <a:t>Obrazci iz prilog (evidence)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" y="40325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Ponesrečenci, ekipe, vozila, prevozi, oprema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886968"/>
            <a:ext cx="420624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663440" y="88696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KOMPLET ZA MNOŽIČNE NESREČE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1280160"/>
            <a:ext cx="420624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466344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intervencije NMP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1554480"/>
            <a:ext cx="420624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773168" y="160934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Odsevni jopič z oznako funkcije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Opomnik ukrepov (plastificiran)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Telefonske številke, UKV-kanali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Obrazci in podloga za pisanje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432304"/>
            <a:ext cx="420624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4663440" y="2432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Vodja primarne triaže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706624"/>
            <a:ext cx="420624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4773168" y="27614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Jopič + opomnik + obrazci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50 triažnih kartonov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10 orofaringealnih tubusov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Oprema za zaustavljanje krvavitev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584448"/>
            <a:ext cx="420624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466344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Koordinator prevozov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858768"/>
            <a:ext cx="4206240" cy="804672"/>
          </a:xfrm>
          <a:prstGeom prst="rect">
            <a:avLst/>
          </a:prstGeom>
          <a:solidFill>
            <a:srgbClr val="F4F6F8"/>
          </a:solidFill>
          <a:ln w="9525">
            <a:solidFill>
              <a:srgbClr val="ECF0F1"/>
            </a:solidFill>
            <a:prstDash val="solid"/>
          </a:ln>
        </p:spPr>
        <p:txBody>
          <a:bodyPr anchor="t"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4773168" y="391363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Jopič + opomnik + obrazci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Adresar sprejemnih bolnišnic</a:t>
            </a:r>
            <a:endParaRPr lang="en-US" sz="9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</a:rPr>
              <a:t>Evidenca vozil in prevozov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544568"/>
            <a:ext cx="8595360" cy="246888"/>
          </a:xfrm>
          <a:prstGeom prst="rect">
            <a:avLst/>
          </a:prstGeom>
          <a:solidFill>
            <a:srgbClr val="FEF9E7"/>
          </a:solidFill>
          <a:ln w="1524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384048" y="4544568"/>
            <a:ext cx="84307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8910"/>
                </a:solidFill>
              </a:rPr>
              <a:t>Dokumentacija na terenu naj bo iz NEPREMOČLJIVEGA materiala. Na podlagi zbrane dokumentacije se po nesreči pripravi analiza.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DC3C7"/>
                </a:solidFill>
              </a:rPr>
              <a:t>KVIZ – preveri svoje znanje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Vprašanja 1–4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75488" y="106984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Kaj je kratica METHANE?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140817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Standardno poročilo prve ekipe na kraju množične nesreče: Major incident, Exact location, Type of incident, Hazards, Access, Number of casualties, Emergency services.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98424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Katero OVO moramo imeti gasilci ob vsaki množični nesreči?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238658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75488" y="238658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236829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Zaščitna čelada, zaščitna očala, zaščitne rokavice in odsevni jopič z oznako funkcije. Ob kemijski nesreči: zaščitna obleka + SCBA.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94436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75488" y="299008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Koliko sekund je na voljo za oceno enega pacienta pri SIEVE?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34670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75488" y="334670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332841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Največ 30 sekund na pacienta. Med triažo SIEVE je dovoljeno samo: zaustavljanje krvavitve in sprostitev dihalne poti.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90448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75488" y="395020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4. Kdo in kako se aktivira helikopter NMP (HNMP)?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430682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5488" y="430682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" y="428853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Vodja intervencije ali vodja intervencije NMP – prek ReCO (regijskega centra za obveščanje). Aktiviranje mora biti pravočasno!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BDC3C7"/>
                </a:solidFill>
              </a:rPr>
              <a:t>KVIZ – preveri svoje znanje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Vprašanja 5–8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75488" y="106984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5. Kaj pomeni triažna barva T1 RDEČA?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140817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Življenjsko ogrožen pacient, ki je rešljiv ob ustrezni in pravočasni oskrbi. Operacija mora biti opravljena v 2 urah.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98424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6. Kdaj se sme premakniti truplo s kraja nesreče?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238658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75488" y="238658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236829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Šele po soglasju preiskovalnih organov in sodnoizvedencev. Zdravnik mora pred tem potrditi smrt. Osebni predmeti in dokumenti ostanejo pri truplu.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94436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75488" y="299008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7. Kateri 3 parametri sestavljajo triažo SORT?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34670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75488" y="334670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332841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(1) Frekvenca dihanja, (2) Sistolični krvni tlak, (3) Glasgowska lestvica nezavesti (GCS). Seštevek 1–10 = T1, 11 = T2, 12 = T3.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904488"/>
            <a:ext cx="8449056" cy="868680"/>
          </a:xfrm>
          <a:prstGeom prst="rect">
            <a:avLst/>
          </a:prstGeom>
          <a:solidFill>
            <a:srgbClr val="0F2035"/>
          </a:solidFill>
          <a:ln w="952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75488" y="395020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8. Kateri so sestavni deli transportnega koridorja?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" y="4306824"/>
            <a:ext cx="219456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75488" y="4306824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" y="428853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FFF99"/>
                </a:solidFill>
              </a:rPr>
              <a:t>Dostopna pot → zbirno mesto za RV → mesto za odvoz pacientov → odvozna pot → pristajališče za helikopter.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BDC3C7"/>
                </a:solidFill>
              </a:rPr>
              <a:t>KLJUČNE TOČKE ZA VSAK GASILEC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Predbolnišnična raven – povzetek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75488" y="1280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26187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Množična nesreča ≠ katastrofa. Katastrofa je obseg, ki ga v doglednem času ni mogoče obvladati (npr. rušilni potres).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91456" y="118872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882896" y="1280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13248" y="126187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METHANE – standard poročanja. Vsaka črka je obvezna informacija. Brez METHANE reševalna veriga ne deluje.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05740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75488" y="2148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13055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Gasilci evakuiramo paciente iz vroče cone in jih predamo NMP ekipi na zbirnem mestu za triažo.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91456" y="205740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882896" y="2148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13248" y="213055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SIEVE = primarna triaža (max 30 sek/pacient). Dovoljeno samo: zaustavljanje krvavitev + sprostitev dihalne poti.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92608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75488" y="3017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T1 Rdeča, T2 Rumena, T3 Zelena, T4 Črna, T4* Modra. Barve moramo znati. Modro razglaša IZKLJUČNO vodja NMP.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91456" y="292608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882896" y="3017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13248" y="299923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Triažni karton ostane pri pacientu ves čas do dokončne obravnave. Pri truplu se ne odnese karton, dokumenti ali predmeti.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79476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75488" y="3886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5840" y="386791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Vodja intervencije NMP + vodja gasilske intervencije + vodja policijske intervencije = vodstvo intervencije (skupna odločanja).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3794760"/>
            <a:ext cx="4206240" cy="749808"/>
          </a:xfrm>
          <a:prstGeom prst="rect">
            <a:avLst/>
          </a:prstGeom>
          <a:solidFill>
            <a:srgbClr val="0F2035"/>
          </a:solidFill>
          <a:ln w="9525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882896" y="38862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</a:rPr>
              <a:t>08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13248" y="3867912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CDE0"/>
                </a:solidFill>
              </a:rPr>
              <a:t>OVO je obvezna preden vstopimo na nevarno območje. Ob sumu kemijske nesreče: OVO namestiti med vožnjo!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3734</Words>
  <Application>Microsoft Office PowerPoint</Application>
  <PresentationFormat>On-screen Show (16:9)</PresentationFormat>
  <Paragraphs>573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Gregor Raicevic</cp:lastModifiedBy>
  <cp:revision>2</cp:revision>
  <dcterms:created xsi:type="dcterms:W3CDTF">2026-05-13T07:33:37Z</dcterms:created>
  <dcterms:modified xsi:type="dcterms:W3CDTF">2026-05-13T07:53:23Z</dcterms:modified>
</cp:coreProperties>
</file>